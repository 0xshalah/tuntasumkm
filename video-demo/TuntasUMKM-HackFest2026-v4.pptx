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UMKM menerima pesanan dari berbagai channel. Automation dapat membantu — tetapi keputusan transaksional membutuhkan kontrol yang jelas.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TuntasUMKM menggunakan AI Agent untuk bagian yang membutuhkan tool use, tetapi mempertahankan human approval pada transaction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Hermes Agent menjadi reasoning dan tool-use runtime. MCP menjadi capability boundary untuk tools yang diberikan kepada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memiliki kewenangan yang dibatasi. Transaction authority tetap berada pada backend + human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 approval bukan sekadar UI decoration. Approval adalah transaction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Keempat tools tersebut AVAILABLE. Tidak semua tools dipanggil pada setiap workflow. Agent memilih tools yang diperlukan berdasarkan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 trail: agent create_draft, human APPROVE_ORDER, agent DEDUCT_STOCK, agent NOTIFY_CUSTOMER.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 trail mencatat bukan hanya apa yang terjadi, tetapi juga actor yang tercatat pada setiap tahap.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designed around bounded authority, human approval, and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TuntasUMKM bukan sekadar chatbot yang menghasilkan teks.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dibuat oleh agent. Keputusan transaksi tetap berada pada manusia. Efek bisnis dijalankan backend setelah approval. Dan seluruh proses dicatat dalam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5F5F5"/>
                </a:solidFill>
              </a:defRPr>
            </a:pPr>
            <a:r>
              <a:t>TUNTASUMKM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3A3A3"/>
                </a:solidFill>
              </a:defRPr>
            </a:pPr>
            <a:r>
              <a:t>AI Agent-assisted order management</a:t>
            </a:r>
            <a:br/>
            <a:r>
              <a:t>with bounded authority and Human-in-the-Loop approval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286000" cy="73152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WhatsApp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286000" cy="73152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Instagram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2286000" cy="73152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Tokopedia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0400" y="2103120"/>
            <a:ext cx="731520" cy="365760"/>
          </a:xfrm>
          <a:prstGeom prst="rightArrow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0" y="1645920"/>
            <a:ext cx="3200400" cy="18288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EF4444"/>
                </a:solidFill>
              </a:defRPr>
            </a:pPr>
            <a:r>
              <a:t>Chaos:</a:t>
            </a:r>
            <a:br/>
            <a:r>
              <a:t>Multiple channels</a:t>
            </a:r>
            <a:br/>
            <a:r>
              <a:t>Manual processes</a:t>
            </a:r>
            <a:br/>
            <a:r>
              <a:t>No audit trail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498079" y="2103120"/>
            <a:ext cx="731520" cy="365760"/>
          </a:xfrm>
          <a:prstGeom prst="rightArrow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1645920"/>
            <a:ext cx="3200400" cy="18288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22C55E"/>
                </a:solidFill>
              </a:defRPr>
            </a:pPr>
            <a:r>
              <a:t>Solution:</a:t>
            </a:r>
            <a:br/>
            <a:r>
              <a:t>AI Agent + HITL</a:t>
            </a:r>
            <a:br/>
            <a:r>
              <a:t>Bounded authority</a:t>
            </a:r>
            <a:br/>
            <a:r>
              <a:t>Full audit 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UMKM menerima pesanan dari berbagai channel — WhatsApp, Instagram, Tokopedia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Automation dapat membantu memahami dan menyiapkan pesanan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Keputusan transaksional membutuhkan kontrol yang jelas</a:t>
            </a:r>
          </a:p>
          <a:p>
            <a:pPr>
              <a:spcAft>
                <a:spcPts val="1200"/>
              </a:spcAft>
              <a:defRPr sz="2000">
                <a:solidFill>
                  <a:srgbClr val="D4D4D4"/>
                </a:solidFill>
              </a:defRPr>
            </a:pPr>
            <a:r>
              <a:t>AI chatbot biasa menghasilkan jawaban, bukan menjalankan workflow bisnis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18288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Customer</a:t>
            </a:r>
          </a:p>
        </p:txBody>
      </p:sp>
      <p:sp>
        <p:nvSpPr>
          <p:cNvPr id="4" name="Down Arrow 3"/>
          <p:cNvSpPr/>
          <p:nvPr/>
        </p:nvSpPr>
        <p:spPr>
          <a:xfrm>
            <a:off x="2148840" y="2377440"/>
            <a:ext cx="274320" cy="320040"/>
          </a:xfrm>
          <a:prstGeom prst="downArrow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697480"/>
            <a:ext cx="18288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B82F6"/>
                </a:solidFill>
              </a:defRPr>
            </a:pPr>
            <a:r>
              <a:t>Hermes Agent</a:t>
            </a:r>
          </a:p>
        </p:txBody>
      </p:sp>
      <p:sp>
        <p:nvSpPr>
          <p:cNvPr id="6" name="Down Arrow 5"/>
          <p:cNvSpPr/>
          <p:nvPr/>
        </p:nvSpPr>
        <p:spPr>
          <a:xfrm>
            <a:off x="2148840" y="3246120"/>
            <a:ext cx="274320" cy="320040"/>
          </a:xfrm>
          <a:prstGeom prst="downArrow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3566160"/>
            <a:ext cx="18288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8B5CF6"/>
                </a:solidFill>
              </a:defRPr>
            </a:pPr>
            <a:r>
              <a:t>MCP</a:t>
            </a:r>
          </a:p>
        </p:txBody>
      </p:sp>
      <p:sp>
        <p:nvSpPr>
          <p:cNvPr id="8" name="Down Arrow 7"/>
          <p:cNvSpPr/>
          <p:nvPr/>
        </p:nvSpPr>
        <p:spPr>
          <a:xfrm>
            <a:off x="2148840" y="4114800"/>
            <a:ext cx="274320" cy="320040"/>
          </a:xfrm>
          <a:prstGeom prst="downArrow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4434840"/>
            <a:ext cx="237744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14B8A6"/>
                </a:solidFill>
              </a:defRPr>
            </a:pPr>
            <a:r>
              <a:t>Bounded Tools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148840" y="4983480"/>
            <a:ext cx="274320" cy="320040"/>
          </a:xfrm>
          <a:prstGeom prst="downArrow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5303520"/>
            <a:ext cx="18288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59E0B"/>
                </a:solidFill>
              </a:defRPr>
            </a:pPr>
            <a:r>
              <a:t>Order Draft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148840" y="5852160"/>
            <a:ext cx="274320" cy="320040"/>
          </a:xfrm>
          <a:prstGeom prst="down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6172200"/>
            <a:ext cx="18288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97316"/>
                </a:solidFill>
              </a:defRPr>
            </a:pPr>
            <a:r>
              <a:t>Human 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828800"/>
            <a:ext cx="6858000" cy="201168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01168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Available to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468880"/>
            <a:ext cx="6309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C55E"/>
                </a:solidFill>
              </a:defRPr>
            </a:pPr>
            <a:r>
              <a:t>✓ search_catalog</a:t>
            </a:r>
            <a:br/>
            <a:r>
              <a:t>✓ check_inventory</a:t>
            </a:r>
            <a:br/>
            <a:r>
              <a:t>✓ calculate_order_total</a:t>
            </a:r>
            <a:br/>
            <a:r>
              <a:t>✓ create_order_draft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114800"/>
            <a:ext cx="6858000" cy="201168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429768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Not Exposed to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754880"/>
            <a:ext cx="6309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4444"/>
                </a:solidFill>
              </a:defRPr>
            </a:pPr>
            <a:r>
              <a:t>✕ approve_order</a:t>
            </a:r>
            <a:br/>
            <a:r>
              <a:t>✕ reject_order</a:t>
            </a:r>
            <a:br/>
            <a:r>
              <a:t>✕ deduct_stock</a:t>
            </a:r>
            <a:br/>
            <a:r>
              <a:t>✕ send_customer_message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6400800"/>
            <a:ext cx="18288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2C55E"/>
                </a:solidFill>
              </a:defRPr>
            </a:pPr>
            <a:r>
              <a:t>Backend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6400800"/>
            <a:ext cx="18288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Bounded Authority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</a:defRPr>
            </a:pPr>
            <a:r>
              <a:t>Agent Authority 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C55E"/>
                </a:solidFill>
              </a:defRPr>
            </a:pPr>
            <a:r>
              <a:t>✓ Search catalog</a:t>
            </a:r>
            <a:br/>
            <a:r>
              <a:t>✓ Check inventory</a:t>
            </a:r>
            <a:br/>
            <a:r>
              <a:t>✓ Calculate order total</a:t>
            </a:r>
            <a:br/>
            <a:r>
              <a:t>✓ Create order draft</a:t>
            </a:r>
            <a:br/>
            <a:br/>
            <a:r>
              <a:t>Agent CAN:</a:t>
            </a:r>
            <a:br/>
            <a:r>
              <a:t>• Understand user intent</a:t>
            </a:r>
            <a:br/>
            <a:r>
              <a:t>• Query business data</a:t>
            </a:r>
            <a:br/>
            <a:r>
              <a:t>• Prepare order draft</a:t>
            </a:r>
            <a:br/>
            <a:r>
              <a:t>• Stop at approval 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Human Authority Zone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97316"/>
                </a:solidFill>
              </a:defRPr>
            </a:pPr>
            <a:r>
              <a:t>✓ Approve order</a:t>
            </a:r>
            <a:br/>
            <a:r>
              <a:t>✓ Reject order</a:t>
            </a:r>
            <a:br/>
            <a:r>
              <a:t>✓ Deduct stock</a:t>
            </a:r>
            <a:br/>
            <a:r>
              <a:t>✓ Send customer message</a:t>
            </a:r>
            <a:br/>
            <a:br/>
            <a:r>
              <a:t>Human CAN:</a:t>
            </a:r>
            <a:br/>
            <a:r>
              <a:t>• Make transactional decisions</a:t>
            </a:r>
            <a:br/>
            <a:r>
              <a:t>• Execute business effects</a:t>
            </a:r>
            <a:br/>
            <a:r>
              <a:t>• Override agent suggestions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Human-in-the-Loop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743200" cy="9144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B82F6"/>
                </a:solidFill>
              </a:defRPr>
            </a:pPr>
            <a:r>
              <a:t>Agent creates</a:t>
            </a:r>
            <a:br/>
            <a:r>
              <a:t>draft order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657600" y="1920240"/>
            <a:ext cx="731520" cy="365760"/>
          </a:xfrm>
          <a:prstGeom prst="rightArrow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1645920"/>
            <a:ext cx="2743200" cy="9144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97316"/>
                </a:solidFill>
              </a:defRPr>
            </a:pPr>
            <a:r>
              <a:t>Human reviews</a:t>
            </a:r>
            <a:br/>
            <a:r>
              <a:t>&amp; approves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498079" y="1920240"/>
            <a:ext cx="731520" cy="365760"/>
          </a:xfrm>
          <a:prstGeom prst="rightArrow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0" y="1645920"/>
            <a:ext cx="2743200" cy="9144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22C55E"/>
                </a:solidFill>
              </a:defRPr>
            </a:pPr>
            <a:r>
              <a:t>Backend executes</a:t>
            </a:r>
            <a:br/>
            <a:r>
              <a:t>&amp; audits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2743200" cy="2286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</a:defRPr>
            </a:pPr>
            <a:r>
              <a:t>Agent:</a:t>
            </a:r>
            <a:br/>
            <a:r>
              <a:t>• search_catalog</a:t>
            </a:r>
            <a:br/>
            <a:r>
              <a:t>• create_order_draft</a:t>
            </a:r>
            <a:br/>
            <a:r>
              <a:t>• Status: pending_approval</a:t>
            </a:r>
            <a:br/>
            <a:r>
              <a:t>• No stock deduction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926080"/>
            <a:ext cx="2743200" cy="2286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31089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97316"/>
                </a:solidFill>
              </a:defRPr>
            </a:pPr>
            <a:r>
              <a:t>Human:</a:t>
            </a:r>
            <a:br/>
            <a:r>
              <a:t>• Reviews order details</a:t>
            </a:r>
            <a:br/>
            <a:r>
              <a:t>• Approves or rejects</a:t>
            </a:r>
            <a:br/>
            <a:r>
              <a:t>• Decision is final</a:t>
            </a:r>
            <a:br/>
            <a:r>
              <a:t>• Cannot be overridden by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926080"/>
            <a:ext cx="2743200" cy="2286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310896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Backend:</a:t>
            </a:r>
            <a:br/>
            <a:r>
              <a:t>• Deducts stock</a:t>
            </a:r>
            <a:br/>
            <a:r>
              <a:t>• Sends notification</a:t>
            </a:r>
            <a:br/>
            <a:r>
              <a:t>• Writes audit log</a:t>
            </a:r>
            <a:br/>
            <a:r>
              <a:t>• Transactional commit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MCP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2286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</a:defRPr>
            </a:pPr>
            <a:r>
              <a:t>search_catalog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D4D4"/>
                </a:solidFill>
              </a:defRPr>
            </a:pPr>
            <a:r>
              <a:t>Search product catalog</a:t>
            </a:r>
            <a:br/>
            <a:r>
              <a:t>by name or SKU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645920"/>
            <a:ext cx="2560320" cy="2286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</a:defRPr>
            </a:pPr>
            <a:r>
              <a:t>check_inventory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D4D4"/>
                </a:solidFill>
              </a:defRPr>
            </a:pPr>
            <a:r>
              <a:t>Check stock level</a:t>
            </a:r>
            <a:br/>
            <a:r>
              <a:t>for a specific SKU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2560320" cy="2286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</a:defRPr>
            </a:pPr>
            <a:r>
              <a:t>calculate_order_total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D4D4"/>
                </a:solidFill>
              </a:defRPr>
            </a:pPr>
            <a:r>
              <a:t>Calculate total price</a:t>
            </a:r>
            <a:br/>
            <a:r>
              <a:t>for order 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645920"/>
            <a:ext cx="2560320" cy="2286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828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create_order_draft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3774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D4D4"/>
                </a:solidFill>
              </a:defRPr>
            </a:pPr>
            <a:r>
              <a:t>Create pending_approval</a:t>
            </a:r>
            <a:br/>
            <a:r>
              <a:t>order draft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89120"/>
            <a:ext cx="10698480" cy="13716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P2.5 Actual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D4"/>
                </a:solidFill>
              </a:defRPr>
            </a:pPr>
            <a:r>
              <a:t>Tools used: search_catalog → create_order_draft</a:t>
            </a:r>
            <a:br/>
            <a:r>
              <a:t>Tools available but NOT used: check_inventory, calculate_order_total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Verified Demo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1148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Order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D4"/>
                </a:solidFill>
              </a:defRPr>
            </a:pPr>
            <a:r>
              <a:t>Order ID: ORD-20260927-35BD8E</a:t>
            </a:r>
            <a:br/>
            <a:r>
              <a:t>Product: Sarung Tenun Samarinda</a:t>
            </a:r>
            <a:br/>
            <a:r>
              <a:t>SKU: SRG-TNN-04</a:t>
            </a:r>
            <a:br/>
            <a:r>
              <a:t>Quantity: 1</a:t>
            </a:r>
            <a:br/>
            <a:r>
              <a:t>Price: Rp 520.000</a:t>
            </a:r>
            <a:br/>
            <a:r>
              <a:t>Status: pending_approval → approved</a:t>
            </a:r>
            <a:br/>
            <a:r>
              <a:t>Channel: MCP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18288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Stock Transition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4D4D4"/>
                </a:solidFill>
              </a:defRPr>
            </a:pPr>
            <a:r>
              <a:t>Before: 3</a:t>
            </a:r>
            <a:br/>
            <a:r>
              <a:t>After: 2</a:t>
            </a:r>
            <a:br/>
            <a:r>
              <a:t>Deduction: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474720"/>
            <a:ext cx="5029200" cy="201168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748B"/>
                </a:solidFill>
              </a:defRPr>
            </a:pPr>
            <a:r>
              <a:t>Audit Trail (4 entries)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2062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D4D4"/>
                </a:solidFill>
              </a:defRPr>
            </a:pPr>
            <a:r>
              <a:t>1. agent — create_draft</a:t>
            </a:r>
            <a:br/>
            <a:r>
              <a:t>2. human — APPROVE_ORDER</a:t>
            </a:r>
            <a:br/>
            <a:r>
              <a:t>3. agent — DEDUCT_STOCK</a:t>
            </a:r>
            <a:br/>
            <a:r>
              <a:t>4. agent — NOTIFY_CUSTOMER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Audit Trail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A0A0A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371600"/>
            <a:ext cx="109728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B82F6"/>
                </a:solidFill>
              </a:defRPr>
            </a:pPr>
            <a:r>
              <a:t>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create_draft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3716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D4"/>
                </a:solidFill>
              </a:defRPr>
            </a:pPr>
            <a:r>
              <a:t>Order created as pending_approval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548640" cy="5486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A0A0A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560320"/>
            <a:ext cx="109728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97316"/>
                </a:solidFill>
              </a:defRPr>
            </a:pPr>
            <a:r>
              <a:t>human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</a:defRPr>
            </a:pPr>
            <a:r>
              <a:t>APPROVE_ORDER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560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D4"/>
                </a:solidFill>
              </a:defRPr>
            </a:pPr>
            <a:r>
              <a:t>Human approves via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54864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A0A0A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3749039"/>
            <a:ext cx="109728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7490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DEDUCT_STOCK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749039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D4"/>
                </a:solidFill>
              </a:defRPr>
            </a:pPr>
            <a:r>
              <a:t>Stock deducted: 3 →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548640" cy="5486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A0A0A"/>
                </a:solidFill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4937760"/>
            <a:ext cx="109728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4B8A6"/>
                </a:solidFill>
              </a:defRPr>
            </a:pPr>
            <a: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937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</a:defRPr>
            </a:pPr>
            <a:r>
              <a:t>NOTIFY_CUSTOMER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9377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D4"/>
                </a:solidFill>
              </a:defRPr>
            </a:pPr>
            <a:r>
              <a:t>Customer notified via WhatsApp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Security &amp; Safety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Agent Boundary (Safe)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C55E"/>
                </a:solidFill>
              </a:defRPr>
            </a:pPr>
            <a:r>
              <a:t>✓ Read-only queries</a:t>
            </a:r>
            <a:br/>
            <a:r>
              <a:t>✓ Create draft orders</a:t>
            </a:r>
            <a:br/>
            <a:r>
              <a:t>✓ Stop at approval gate</a:t>
            </a:r>
            <a:br/>
            <a:br/>
            <a:r>
              <a:t>Agent CANNOT:</a:t>
            </a:r>
            <a:br/>
            <a:r>
              <a:t>• Approve/reject orders</a:t>
            </a:r>
            <a:br/>
            <a:r>
              <a:t>• Deduct stock</a:t>
            </a:r>
            <a:br/>
            <a:r>
              <a:t>• Send messages</a:t>
            </a:r>
            <a:br/>
            <a:r>
              <a:t>• Access database directly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Forbidden Zone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4444"/>
                </a:solidFill>
              </a:defRPr>
            </a:pPr>
            <a:r>
              <a:t>✕ Direct database access</a:t>
            </a:r>
            <a:br/>
            <a:r>
              <a:t>✕ Transactional commits</a:t>
            </a:r>
            <a:br/>
            <a:r>
              <a:t>✕ Stock mutation</a:t>
            </a:r>
            <a:br/>
            <a:r>
              <a:t>✕ Customer communication</a:t>
            </a:r>
            <a:br/>
            <a:br/>
            <a:r>
              <a:t>All transactional operations</a:t>
            </a:r>
            <a:br/>
            <a:r>
              <a:t>require human approval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Why This Is Different From a Chatbot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572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Traditional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D4"/>
                </a:solidFill>
              </a:defRPr>
            </a:pPr>
            <a:r>
              <a:t>• Generates text responses</a:t>
            </a:r>
            <a:br/>
            <a:r>
              <a:t>• No tool integration</a:t>
            </a:r>
            <a:br/>
            <a:r>
              <a:t>• No business logic</a:t>
            </a:r>
            <a:br/>
            <a:r>
              <a:t>• No audit trail</a:t>
            </a:r>
            <a:br/>
            <a:r>
              <a:t>• Cannot execute actions</a:t>
            </a:r>
            <a:br/>
            <a:r>
              <a:t>• No authority boundaries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TuntasUMKM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C55E"/>
                </a:solidFill>
              </a:defRPr>
            </a:pPr>
            <a:r>
              <a:t>• Tool-calling via MCP</a:t>
            </a:r>
            <a:br/>
            <a:r>
              <a:t>• Bounded business tools</a:t>
            </a:r>
            <a:br/>
            <a:r>
              <a:t>• Human-in-the-Loop gate</a:t>
            </a:r>
            <a:br/>
            <a:r>
              <a:t>• Full audit trail</a:t>
            </a:r>
            <a:br/>
            <a:r>
              <a:t>• Executes draft creation</a:t>
            </a:r>
            <a:br/>
            <a:r>
              <a:t>• Clear authority boundaries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5F5F5"/>
                </a:solidFill>
              </a:defRPr>
            </a:pPr>
            <a:r>
              <a:t>TUNTASUMKM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3A3A3"/>
                </a:solidFill>
              </a:defRPr>
            </a:pPr>
            <a:r>
              <a:t>From Conversation to Business Action</a:t>
            </a:r>
            <a:br/>
            <a:br/>
            <a:r>
              <a:t>AI Agent + MCP + Human Approval + Auditability</a:t>
            </a:r>
            <a:br/>
            <a:br/>
            <a:r>
              <a:t>AI HackFest 2026 — Build Agent, Deliver Impact.</a:t>
            </a:r>
            <a:br/>
            <a:r>
              <a:t>Dari Percakapan, Jadi Penjualan.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