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Masalahnya bukan AI bisa membuat order. Masalahnya adalah: berapa banyak akses yang seharusnya kita berikan ke AI sebelum AI bisa menghabiskan uang, mengubah stok, atau mengirim sesuatu ke customer? Di TuntasUMKM, AI diberi bounded business tools untuk discovery, calculation, dan draft creation. Transaction effects dijalankan oleh backend setelah human approval.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Kami memisahkan agent capability dari transaction execution. Agent hanya mendapat bounded tools. Backend menjalankan side effects setelah state transition. Semua diaudit.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1 — MCP Exposure Control: Hermes hanya memuat 4 business capabilities. Layer 2 — Backend State-Transition Enforcement: Backend memvalidasi status sebelum menjalankan effects. Layer 3 — Human Approval: Manusia memegang keputusan final. Boundary berasal dari capability separation, bukan hanya prompt instruction.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Customer mengirim pesan: Saya mau pesan Sarung Tenun Samarinda 1 pcs. Agent menerima intent ini dan mulai bekerja.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 memanggil tools secara sequential. Perhatikan output terakhir: bukan approved order. Agent berhenti di draft.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Status: pending_approval. Tidak ada stock deduction. Tidak ada transaksi final. Di MCP tool registry, tidak ada approve_order, deduct_stock, send_customer_message. Ini design decision.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Approval adalah backend operation yang dipicu dari human approval flow. Backend enforce state-transition: hanya order berstatus pending_approval yang bisa bertransisi. Honest note: endpoint approval saat ini belum memiliki authentication. Yang di-enforce adalah state-transition validity.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Setelah human approval, backend menjalankan transaction effects. Stock: 5 → 4. Customer notified. Audit trail tercatat.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Entry 1: agent create_draft. Entry 2: human APPROVE_ORDER. Entry 3: agent DEDUCT_STOCK. Entry 4: agent NOTIFY_CUSTOMER. Actor agent untuk DEDUCT_STOCK dan NOTIFY_CUSTOMER merepresentasikan origin workflow — backend mengeksekusi side effects atas otorisasi human approval.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Bukan karena prompt-nya melarang agent. Tool-nya memang tidak ada di MCP registry. Honest limitation: agent memiliki execute_code dan terminal. Secara teknis bisa bypass. MCP boundary adalah model-awareness layer, bukan absolute security boundary. Security boundary yang sebenarnya ada di backend state-transition enforcement.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TuntasUMKM tidak mencoba membuat AI melakukan semuanya. Kami membuat AI melakukan hal yang tepat, dan berhenti di tempat yang tepat. Build Agent, Deliver Impact.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1828800"/>
            <a:ext cx="10698480" cy="1371600"/>
          </a:xfrm>
          <a:prstGeom prst="rect">
            <a:avLst/>
          </a:prstGeom>
          <a:noFill/>
        </p:spPr>
        <p:txBody>
          <a:bodyPr wrap="square">
            <a:spAutoFit/>
          </a:bodyPr>
          <a:lstStyle/>
          <a:p>
            <a:pPr algn="ctr">
              <a:defRPr sz="7200" b="1">
                <a:solidFill>
                  <a:srgbClr val="F5F5F5"/>
                </a:solidFill>
              </a:defRPr>
            </a:pPr>
            <a:r>
              <a:t>TUNTASUMKM</a:t>
            </a:r>
          </a:p>
        </p:txBody>
      </p:sp>
      <p:sp>
        <p:nvSpPr>
          <p:cNvPr id="3" name="TextBox 2"/>
          <p:cNvSpPr txBox="1"/>
          <p:nvPr/>
        </p:nvSpPr>
        <p:spPr>
          <a:xfrm>
            <a:off x="731520" y="3474720"/>
            <a:ext cx="10698480" cy="1828800"/>
          </a:xfrm>
          <a:prstGeom prst="rect">
            <a:avLst/>
          </a:prstGeom>
          <a:noFill/>
        </p:spPr>
        <p:txBody>
          <a:bodyPr wrap="square">
            <a:spAutoFit/>
          </a:bodyPr>
          <a:lstStyle/>
          <a:p>
            <a:pPr algn="ctr">
              <a:defRPr sz="2800" b="0">
                <a:solidFill>
                  <a:srgbClr val="A3A3A3"/>
                </a:solidFill>
              </a:defRPr>
            </a:pPr>
            <a:r>
              <a:t>AI Agent-assisted order management for UMKM</a:t>
            </a:r>
            <a:br/>
            <a:r>
              <a:t>with bounded authority and Human-in-the-Loop approval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274320"/>
            <a:ext cx="10698480" cy="731520"/>
          </a:xfrm>
          <a:prstGeom prst="rect">
            <a:avLst/>
          </a:prstGeom>
          <a:noFill/>
        </p:spPr>
        <p:txBody>
          <a:bodyPr wrap="square">
            <a:spAutoFit/>
          </a:bodyPr>
          <a:lstStyle/>
          <a:p>
            <a:pPr algn="l">
              <a:defRPr sz="4000" b="1">
                <a:solidFill>
                  <a:srgbClr val="F5F5F5"/>
                </a:solidFill>
              </a:defRPr>
            </a:pPr>
            <a:r>
              <a:t>Solution: AI-Assisted, Not AI-Autonomous</a:t>
            </a:r>
          </a:p>
        </p:txBody>
      </p:sp>
      <p:sp>
        <p:nvSpPr>
          <p:cNvPr id="3" name="TextBox 2"/>
          <p:cNvSpPr txBox="1"/>
          <p:nvPr/>
        </p:nvSpPr>
        <p:spPr>
          <a:xfrm>
            <a:off x="731520" y="1005840"/>
            <a:ext cx="10698480" cy="457200"/>
          </a:xfrm>
          <a:prstGeom prst="rect">
            <a:avLst/>
          </a:prstGeom>
          <a:noFill/>
        </p:spPr>
        <p:txBody>
          <a:bodyPr wrap="square">
            <a:spAutoFit/>
          </a:bodyPr>
          <a:lstStyle/>
          <a:p>
            <a:pPr algn="l">
              <a:defRPr sz="2000" b="0">
                <a:solidFill>
                  <a:srgbClr val="A3A3A3"/>
                </a:solidFill>
              </a:defRPr>
            </a:pPr>
            <a:r>
              <a:t>TuntasUMKM positioning</a:t>
            </a:r>
          </a:p>
        </p:txBody>
      </p:sp>
      <p:sp>
        <p:nvSpPr>
          <p:cNvPr id="4" name="Rounded Rectangle 3"/>
          <p:cNvSpPr/>
          <p:nvPr/>
        </p:nvSpPr>
        <p:spPr>
          <a:xfrm>
            <a:off x="731520" y="1645920"/>
            <a:ext cx="5029200" cy="4572000"/>
          </a:xfrm>
          <a:prstGeom prst="roundRect">
            <a:avLst/>
          </a:prstGeom>
          <a:solidFill>
            <a:srgbClr val="141414"/>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572000" cy="457200"/>
          </a:xfrm>
          <a:prstGeom prst="rect">
            <a:avLst/>
          </a:prstGeom>
          <a:noFill/>
        </p:spPr>
        <p:txBody>
          <a:bodyPr wrap="square">
            <a:spAutoFit/>
          </a:bodyPr>
          <a:lstStyle/>
          <a:p>
            <a:pPr algn="l">
              <a:defRPr sz="2000" b="1">
                <a:solidFill>
                  <a:srgbClr val="22C55E"/>
                </a:solidFill>
              </a:defRPr>
            </a:pPr>
            <a:r>
              <a:t>AI-Assisted (TuntasUMKM)</a:t>
            </a:r>
          </a:p>
        </p:txBody>
      </p:sp>
      <p:sp>
        <p:nvSpPr>
          <p:cNvPr id="6" name="TextBox 5"/>
          <p:cNvSpPr txBox="1"/>
          <p:nvPr/>
        </p:nvSpPr>
        <p:spPr>
          <a:xfrm>
            <a:off x="914400" y="2377440"/>
            <a:ext cx="4572000" cy="3200400"/>
          </a:xfrm>
          <a:prstGeom prst="rect">
            <a:avLst/>
          </a:prstGeom>
          <a:noFill/>
        </p:spPr>
        <p:txBody>
          <a:bodyPr wrap="square">
            <a:spAutoFit/>
          </a:bodyPr>
          <a:lstStyle/>
          <a:p>
            <a:pPr algn="l">
              <a:defRPr sz="1600" b="0">
                <a:solidFill>
                  <a:srgbClr val="22C55E"/>
                </a:solidFill>
              </a:defRPr>
            </a:pPr>
            <a:r>
              <a:t>✓ AI searches products</a:t>
            </a:r>
            <a:br/>
            <a:r>
              <a:t>✓ AI creates draft order</a:t>
            </a:r>
            <a:br/>
            <a:r>
              <a:t>✓ Human approves transaction</a:t>
            </a:r>
            <a:br/>
            <a:r>
              <a:t>✓ Backend executes effects</a:t>
            </a:r>
            <a:br/>
            <a:r>
              <a:t>✓ Full audit trail</a:t>
            </a:r>
            <a:br/>
            <a:br/>
            <a:r>
              <a:t>AI has bounded authority.</a:t>
            </a:r>
            <a:br/>
            <a:r>
              <a:t>Human holds the gate.</a:t>
            </a:r>
          </a:p>
        </p:txBody>
      </p:sp>
      <p:sp>
        <p:nvSpPr>
          <p:cNvPr id="7" name="Rounded Rectangle 6"/>
          <p:cNvSpPr/>
          <p:nvPr/>
        </p:nvSpPr>
        <p:spPr>
          <a:xfrm>
            <a:off x="6400800" y="1645920"/>
            <a:ext cx="5029200" cy="4572000"/>
          </a:xfrm>
          <a:prstGeom prst="roundRect">
            <a:avLst/>
          </a:prstGeom>
          <a:solidFill>
            <a:srgbClr val="141414"/>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828800"/>
            <a:ext cx="4572000" cy="457200"/>
          </a:xfrm>
          <a:prstGeom prst="rect">
            <a:avLst/>
          </a:prstGeom>
          <a:noFill/>
        </p:spPr>
        <p:txBody>
          <a:bodyPr wrap="square">
            <a:spAutoFit/>
          </a:bodyPr>
          <a:lstStyle/>
          <a:p>
            <a:pPr algn="l">
              <a:defRPr sz="2000" b="1">
                <a:solidFill>
                  <a:srgbClr val="EF4444"/>
                </a:solidFill>
              </a:defRPr>
            </a:pPr>
            <a:r>
              <a:t>AI-Autonomous (Dangerous)</a:t>
            </a:r>
          </a:p>
        </p:txBody>
      </p:sp>
      <p:sp>
        <p:nvSpPr>
          <p:cNvPr id="9" name="TextBox 8"/>
          <p:cNvSpPr txBox="1"/>
          <p:nvPr/>
        </p:nvSpPr>
        <p:spPr>
          <a:xfrm>
            <a:off x="6583680" y="2377440"/>
            <a:ext cx="4572000" cy="3200400"/>
          </a:xfrm>
          <a:prstGeom prst="rect">
            <a:avLst/>
          </a:prstGeom>
          <a:noFill/>
        </p:spPr>
        <p:txBody>
          <a:bodyPr wrap="square">
            <a:spAutoFit/>
          </a:bodyPr>
          <a:lstStyle/>
          <a:p>
            <a:pPr algn="l">
              <a:defRPr sz="1600" b="0">
                <a:solidFill>
                  <a:srgbClr val="EF4444"/>
                </a:solidFill>
              </a:defRPr>
            </a:pPr>
            <a:r>
              <a:t>✗ AI approves own orders</a:t>
            </a:r>
            <a:br/>
            <a:r>
              <a:t>✗ AI deducts stock directly</a:t>
            </a:r>
            <a:br/>
            <a:r>
              <a:t>✗ AI sends messages directly</a:t>
            </a:r>
            <a:br/>
            <a:r>
              <a:t>✗ No human oversight</a:t>
            </a:r>
            <a:br/>
            <a:r>
              <a:t>✗ No audit trail</a:t>
            </a:r>
            <a:br/>
            <a:br/>
            <a:r>
              <a:t>AI has full authority.</a:t>
            </a:r>
            <a:br/>
            <a:r>
              <a:t>No human control.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274320"/>
            <a:ext cx="10698480" cy="731520"/>
          </a:xfrm>
          <a:prstGeom prst="rect">
            <a:avLst/>
          </a:prstGeom>
          <a:noFill/>
        </p:spPr>
        <p:txBody>
          <a:bodyPr wrap="square">
            <a:spAutoFit/>
          </a:bodyPr>
          <a:lstStyle/>
          <a:p>
            <a:pPr algn="l">
              <a:defRPr sz="4000" b="1">
                <a:solidFill>
                  <a:srgbClr val="F5F5F5"/>
                </a:solidFill>
              </a:defRPr>
            </a:pPr>
            <a:r>
              <a:t>Architecture: 3-Layer Boundary</a:t>
            </a:r>
          </a:p>
        </p:txBody>
      </p:sp>
      <p:sp>
        <p:nvSpPr>
          <p:cNvPr id="3" name="TextBox 2"/>
          <p:cNvSpPr txBox="1"/>
          <p:nvPr/>
        </p:nvSpPr>
        <p:spPr>
          <a:xfrm>
            <a:off x="731520" y="1005840"/>
            <a:ext cx="10698480" cy="457200"/>
          </a:xfrm>
          <a:prstGeom prst="rect">
            <a:avLst/>
          </a:prstGeom>
          <a:noFill/>
        </p:spPr>
        <p:txBody>
          <a:bodyPr wrap="square">
            <a:spAutoFit/>
          </a:bodyPr>
          <a:lstStyle/>
          <a:p>
            <a:pPr algn="l">
              <a:defRPr sz="2000" b="0">
                <a:solidFill>
                  <a:srgbClr val="A3A3A3"/>
                </a:solidFill>
              </a:defRPr>
            </a:pPr>
            <a:r>
              <a:t>MCP Exposure + Backend Enforcement + Human Approval</a:t>
            </a:r>
          </a:p>
        </p:txBody>
      </p:sp>
      <p:sp>
        <p:nvSpPr>
          <p:cNvPr id="4" name="Rounded Rectangle 3"/>
          <p:cNvSpPr/>
          <p:nvPr/>
        </p:nvSpPr>
        <p:spPr>
          <a:xfrm>
            <a:off x="1371600" y="1645920"/>
            <a:ext cx="9144000" cy="1097280"/>
          </a:xfrm>
          <a:prstGeom prst="roundRect">
            <a:avLst/>
          </a:prstGeom>
          <a:solidFill>
            <a:srgbClr val="141414"/>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54480" y="1828800"/>
            <a:ext cx="8778240" cy="365760"/>
          </a:xfrm>
          <a:prstGeom prst="rect">
            <a:avLst/>
          </a:prstGeom>
          <a:noFill/>
        </p:spPr>
        <p:txBody>
          <a:bodyPr wrap="square">
            <a:spAutoFit/>
          </a:bodyPr>
          <a:lstStyle/>
          <a:p>
            <a:pPr algn="l">
              <a:defRPr sz="1800" b="1">
                <a:solidFill>
                  <a:srgbClr val="F97316"/>
                </a:solidFill>
              </a:defRPr>
            </a:pPr>
            <a:r>
              <a:t>Layer 1: HUMAN / UI</a:t>
            </a:r>
          </a:p>
        </p:txBody>
      </p:sp>
      <p:sp>
        <p:nvSpPr>
          <p:cNvPr id="6" name="TextBox 5"/>
          <p:cNvSpPr txBox="1"/>
          <p:nvPr/>
        </p:nvSpPr>
        <p:spPr>
          <a:xfrm>
            <a:off x="1554480" y="2194560"/>
            <a:ext cx="8778240" cy="457200"/>
          </a:xfrm>
          <a:prstGeom prst="rect">
            <a:avLst/>
          </a:prstGeom>
          <a:noFill/>
        </p:spPr>
        <p:txBody>
          <a:bodyPr wrap="square">
            <a:spAutoFit/>
          </a:bodyPr>
          <a:lstStyle/>
          <a:p>
            <a:pPr algn="l">
              <a:defRPr sz="1400" b="0">
                <a:solidFill>
                  <a:srgbClr val="D4D4D4"/>
                </a:solidFill>
              </a:defRPr>
            </a:pPr>
            <a:r>
              <a:t>Approve / Reject  |  Business Authorization Gate</a:t>
            </a:r>
          </a:p>
        </p:txBody>
      </p:sp>
      <p:sp>
        <p:nvSpPr>
          <p:cNvPr id="7" name="Down Arrow 6"/>
          <p:cNvSpPr/>
          <p:nvPr/>
        </p:nvSpPr>
        <p:spPr>
          <a:xfrm>
            <a:off x="5760720" y="2743200"/>
            <a:ext cx="274320" cy="365760"/>
          </a:xfrm>
          <a:prstGeom prst="downArrow">
            <a:avLst/>
          </a:prstGeom>
          <a:solidFill>
            <a:srgbClr val="5252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71600" y="3108960"/>
            <a:ext cx="9144000" cy="1097280"/>
          </a:xfrm>
          <a:prstGeom prst="roundRect">
            <a:avLst/>
          </a:prstGeom>
          <a:solidFill>
            <a:srgbClr val="141414"/>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54480" y="3291840"/>
            <a:ext cx="8778240" cy="365760"/>
          </a:xfrm>
          <a:prstGeom prst="rect">
            <a:avLst/>
          </a:prstGeom>
          <a:noFill/>
        </p:spPr>
        <p:txBody>
          <a:bodyPr wrap="square">
            <a:spAutoFit/>
          </a:bodyPr>
          <a:lstStyle/>
          <a:p>
            <a:pPr algn="l">
              <a:defRPr sz="1800" b="1">
                <a:solidFill>
                  <a:srgbClr val="22C55E"/>
                </a:solidFill>
              </a:defRPr>
            </a:pPr>
            <a:r>
              <a:t>Layer 2: BACKEND</a:t>
            </a:r>
          </a:p>
        </p:txBody>
      </p:sp>
      <p:sp>
        <p:nvSpPr>
          <p:cNvPr id="10" name="TextBox 9"/>
          <p:cNvSpPr txBox="1"/>
          <p:nvPr/>
        </p:nvSpPr>
        <p:spPr>
          <a:xfrm>
            <a:off x="1554480" y="3657600"/>
            <a:ext cx="8778240" cy="457200"/>
          </a:xfrm>
          <a:prstGeom prst="rect">
            <a:avLst/>
          </a:prstGeom>
          <a:noFill/>
        </p:spPr>
        <p:txBody>
          <a:bodyPr wrap="square">
            <a:spAutoFit/>
          </a:bodyPr>
          <a:lstStyle/>
          <a:p>
            <a:pPr algn="l">
              <a:defRPr sz="1400" b="0">
                <a:solidFill>
                  <a:srgbClr val="D4D4D4"/>
                </a:solidFill>
              </a:defRPr>
            </a:pPr>
            <a:r>
              <a:t>Transaction Boundary  |  Stock / Notification  |  Audit Log</a:t>
            </a:r>
          </a:p>
        </p:txBody>
      </p:sp>
      <p:sp>
        <p:nvSpPr>
          <p:cNvPr id="11" name="Down Arrow 10"/>
          <p:cNvSpPr/>
          <p:nvPr/>
        </p:nvSpPr>
        <p:spPr>
          <a:xfrm>
            <a:off x="5760720" y="4206240"/>
            <a:ext cx="274320" cy="365760"/>
          </a:xfrm>
          <a:prstGeom prst="downArrow">
            <a:avLst/>
          </a:prstGeom>
          <a:solidFill>
            <a:srgbClr val="5252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71600" y="4572000"/>
            <a:ext cx="9144000" cy="1645920"/>
          </a:xfrm>
          <a:prstGeom prst="roundRect">
            <a:avLst/>
          </a:prstGeom>
          <a:solidFill>
            <a:srgbClr val="141414"/>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54480" y="4754880"/>
            <a:ext cx="8778240" cy="365760"/>
          </a:xfrm>
          <a:prstGeom prst="rect">
            <a:avLst/>
          </a:prstGeom>
          <a:noFill/>
        </p:spPr>
        <p:txBody>
          <a:bodyPr wrap="square">
            <a:spAutoFit/>
          </a:bodyPr>
          <a:lstStyle/>
          <a:p>
            <a:pPr algn="l">
              <a:defRPr sz="1800" b="1">
                <a:solidFill>
                  <a:srgbClr val="3B82F6"/>
                </a:solidFill>
              </a:defRPr>
            </a:pPr>
            <a:r>
              <a:t>Layer 3: HERMES AGENT (MCP Exposure)</a:t>
            </a:r>
          </a:p>
        </p:txBody>
      </p:sp>
      <p:sp>
        <p:nvSpPr>
          <p:cNvPr id="14" name="TextBox 13"/>
          <p:cNvSpPr txBox="1"/>
          <p:nvPr/>
        </p:nvSpPr>
        <p:spPr>
          <a:xfrm>
            <a:off x="1554480" y="5212080"/>
            <a:ext cx="8778240" cy="914400"/>
          </a:xfrm>
          <a:prstGeom prst="rect">
            <a:avLst/>
          </a:prstGeom>
          <a:noFill/>
        </p:spPr>
        <p:txBody>
          <a:bodyPr wrap="square">
            <a:spAutoFit/>
          </a:bodyPr>
          <a:lstStyle/>
          <a:p>
            <a:pPr algn="l">
              <a:defRPr sz="1400" b="0">
                <a:solidFill>
                  <a:srgbClr val="D4D4D4"/>
                </a:solidFill>
              </a:defRPr>
            </a:pPr>
            <a:r>
              <a:t>✓ search_catalog  ✓ check_inventory  ✓ calculate_order_total  ✓ create_order_draft</a:t>
            </a:r>
            <a:br/>
            <a:br/>
            <a:r>
              <a:t>✗ approve_order  ✗ reject_order  ✗ deduct_stock  ✗ send_customer_message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274320"/>
            <a:ext cx="10698480" cy="731520"/>
          </a:xfrm>
          <a:prstGeom prst="rect">
            <a:avLst/>
          </a:prstGeom>
          <a:noFill/>
        </p:spPr>
        <p:txBody>
          <a:bodyPr wrap="square">
            <a:spAutoFit/>
          </a:bodyPr>
          <a:lstStyle/>
          <a:p>
            <a:pPr algn="l">
              <a:defRPr sz="4000" b="1">
                <a:solidFill>
                  <a:srgbClr val="F5F5F5"/>
                </a:solidFill>
              </a:defRPr>
            </a:pPr>
            <a:r>
              <a:t>User Intent</a:t>
            </a:r>
          </a:p>
        </p:txBody>
      </p:sp>
      <p:sp>
        <p:nvSpPr>
          <p:cNvPr id="3" name="TextBox 2"/>
          <p:cNvSpPr txBox="1"/>
          <p:nvPr/>
        </p:nvSpPr>
        <p:spPr>
          <a:xfrm>
            <a:off x="731520" y="1005840"/>
            <a:ext cx="10698480" cy="457200"/>
          </a:xfrm>
          <a:prstGeom prst="rect">
            <a:avLst/>
          </a:prstGeom>
          <a:noFill/>
        </p:spPr>
        <p:txBody>
          <a:bodyPr wrap="square">
            <a:spAutoFit/>
          </a:bodyPr>
          <a:lstStyle/>
          <a:p>
            <a:pPr algn="l">
              <a:defRPr sz="2000" b="0">
                <a:solidFill>
                  <a:srgbClr val="A3A3A3"/>
                </a:solidFill>
              </a:defRPr>
            </a:pPr>
            <a:r>
              <a:t>Customer message</a:t>
            </a:r>
          </a:p>
        </p:txBody>
      </p:sp>
      <p:sp>
        <p:nvSpPr>
          <p:cNvPr id="4" name="Rounded Rectangle 3"/>
          <p:cNvSpPr/>
          <p:nvPr/>
        </p:nvSpPr>
        <p:spPr>
          <a:xfrm>
            <a:off x="1828800" y="2286000"/>
            <a:ext cx="8229600" cy="1828800"/>
          </a:xfrm>
          <a:prstGeom prst="roundRect">
            <a:avLst/>
          </a:prstGeom>
          <a:solidFill>
            <a:srgbClr val="141414"/>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0" y="2560320"/>
            <a:ext cx="7315200" cy="457200"/>
          </a:xfrm>
          <a:prstGeom prst="rect">
            <a:avLst/>
          </a:prstGeom>
          <a:noFill/>
        </p:spPr>
        <p:txBody>
          <a:bodyPr wrap="square">
            <a:spAutoFit/>
          </a:bodyPr>
          <a:lstStyle/>
          <a:p>
            <a:pPr algn="l">
              <a:defRPr sz="1600" b="1">
                <a:solidFill>
                  <a:srgbClr val="3B82F6"/>
                </a:solidFill>
              </a:defRPr>
            </a:pPr>
            <a:r>
              <a:t>Customer says:</a:t>
            </a:r>
          </a:p>
        </p:txBody>
      </p:sp>
      <p:sp>
        <p:nvSpPr>
          <p:cNvPr id="6" name="TextBox 5"/>
          <p:cNvSpPr txBox="1"/>
          <p:nvPr/>
        </p:nvSpPr>
        <p:spPr>
          <a:xfrm>
            <a:off x="2286000" y="3017520"/>
            <a:ext cx="7315200" cy="914400"/>
          </a:xfrm>
          <a:prstGeom prst="rect">
            <a:avLst/>
          </a:prstGeom>
          <a:noFill/>
        </p:spPr>
        <p:txBody>
          <a:bodyPr wrap="square">
            <a:spAutoFit/>
          </a:bodyPr>
          <a:lstStyle/>
          <a:p>
            <a:pPr algn="l">
              <a:defRPr sz="3200" b="1">
                <a:solidFill>
                  <a:srgbClr val="F5F5F5"/>
                </a:solidFill>
              </a:defRPr>
            </a:pPr>
            <a:r>
              <a:t>"Saya mau pesan Sarung Tenun Samarinda 1 pcs"</a:t>
            </a:r>
          </a:p>
        </p:txBody>
      </p:sp>
      <p:sp>
        <p:nvSpPr>
          <p:cNvPr id="7" name="Down Arrow 6"/>
          <p:cNvSpPr/>
          <p:nvPr/>
        </p:nvSpPr>
        <p:spPr>
          <a:xfrm>
            <a:off x="5760720" y="4297680"/>
            <a:ext cx="274320" cy="457200"/>
          </a:xfrm>
          <a:prstGeom prst="downArrow">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28800" y="5029200"/>
            <a:ext cx="8229600" cy="914400"/>
          </a:xfrm>
          <a:prstGeom prst="roundRect">
            <a:avLst/>
          </a:prstGeom>
          <a:solidFill>
            <a:srgbClr val="1A1A1A"/>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3B82F6"/>
                </a:solidFill>
              </a:defRPr>
            </a:pPr>
            <a:r>
              <a:t>Hermes Agent receives intent and starts working...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274320"/>
            <a:ext cx="10698480" cy="731520"/>
          </a:xfrm>
          <a:prstGeom prst="rect">
            <a:avLst/>
          </a:prstGeom>
          <a:noFill/>
        </p:spPr>
        <p:txBody>
          <a:bodyPr wrap="square">
            <a:spAutoFit/>
          </a:bodyPr>
          <a:lstStyle/>
          <a:p>
            <a:pPr algn="l">
              <a:defRPr sz="4000" b="1">
                <a:solidFill>
                  <a:srgbClr val="F5F5F5"/>
                </a:solidFill>
              </a:defRPr>
            </a:pPr>
            <a:r>
              <a:t>Agent Execution</a:t>
            </a:r>
          </a:p>
        </p:txBody>
      </p:sp>
      <p:sp>
        <p:nvSpPr>
          <p:cNvPr id="3" name="TextBox 2"/>
          <p:cNvSpPr txBox="1"/>
          <p:nvPr/>
        </p:nvSpPr>
        <p:spPr>
          <a:xfrm>
            <a:off x="731520" y="1005840"/>
            <a:ext cx="10698480" cy="457200"/>
          </a:xfrm>
          <a:prstGeom prst="rect">
            <a:avLst/>
          </a:prstGeom>
          <a:noFill/>
        </p:spPr>
        <p:txBody>
          <a:bodyPr wrap="square">
            <a:spAutoFit/>
          </a:bodyPr>
          <a:lstStyle/>
          <a:p>
            <a:pPr algn="l">
              <a:defRPr sz="2000" b="0">
                <a:solidFill>
                  <a:srgbClr val="A3A3A3"/>
                </a:solidFill>
              </a:defRPr>
            </a:pPr>
            <a:r>
              <a:t>Sequential tool calls</a:t>
            </a:r>
          </a:p>
        </p:txBody>
      </p:sp>
      <p:sp>
        <p:nvSpPr>
          <p:cNvPr id="4" name="Rounded Rectangle 3"/>
          <p:cNvSpPr/>
          <p:nvPr/>
        </p:nvSpPr>
        <p:spPr>
          <a:xfrm>
            <a:off x="3200400" y="1645920"/>
            <a:ext cx="5486400" cy="548640"/>
          </a:xfrm>
          <a:prstGeom prst="roundRect">
            <a:avLst/>
          </a:prstGeom>
          <a:solidFill>
            <a:srgbClr val="1A1A1A"/>
          </a:solidFill>
          <a:ln w="1905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94A3B8"/>
                </a:solidFill>
              </a:defRPr>
            </a:pPr>
            <a:r>
              <a:t>USER INTENT</a:t>
            </a:r>
          </a:p>
        </p:txBody>
      </p:sp>
      <p:sp>
        <p:nvSpPr>
          <p:cNvPr id="5" name="Down Arrow 4"/>
          <p:cNvSpPr/>
          <p:nvPr/>
        </p:nvSpPr>
        <p:spPr>
          <a:xfrm>
            <a:off x="5760720" y="2194560"/>
            <a:ext cx="274320" cy="228600"/>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200400" y="2423160"/>
            <a:ext cx="5486400" cy="548640"/>
          </a:xfrm>
          <a:prstGeom prst="roundRect">
            <a:avLst/>
          </a:prstGeom>
          <a:solidFill>
            <a:srgbClr val="1A1A1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14B8A6"/>
                </a:solidFill>
              </a:defRPr>
            </a:pPr>
            <a:r>
              <a:t>search_catalog</a:t>
            </a:r>
          </a:p>
        </p:txBody>
      </p:sp>
      <p:sp>
        <p:nvSpPr>
          <p:cNvPr id="7" name="Down Arrow 6"/>
          <p:cNvSpPr/>
          <p:nvPr/>
        </p:nvSpPr>
        <p:spPr>
          <a:xfrm>
            <a:off x="5760720" y="2971800"/>
            <a:ext cx="274320" cy="228600"/>
          </a:xfrm>
          <a:prstGeom prst="downArrow">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200400" y="3200400"/>
            <a:ext cx="5486400" cy="548640"/>
          </a:xfrm>
          <a:prstGeom prst="roundRect">
            <a:avLst/>
          </a:prstGeom>
          <a:solidFill>
            <a:srgbClr val="1A1A1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14B8A6"/>
                </a:solidFill>
              </a:defRPr>
            </a:pPr>
            <a:r>
              <a:t>check_inventory</a:t>
            </a:r>
          </a:p>
        </p:txBody>
      </p:sp>
      <p:sp>
        <p:nvSpPr>
          <p:cNvPr id="9" name="Down Arrow 8"/>
          <p:cNvSpPr/>
          <p:nvPr/>
        </p:nvSpPr>
        <p:spPr>
          <a:xfrm>
            <a:off x="5760720" y="3749039"/>
            <a:ext cx="274320" cy="228600"/>
          </a:xfrm>
          <a:prstGeom prst="downArrow">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200400" y="3977639"/>
            <a:ext cx="5486400" cy="548640"/>
          </a:xfrm>
          <a:prstGeom prst="roundRect">
            <a:avLst/>
          </a:prstGeom>
          <a:solidFill>
            <a:srgbClr val="1A1A1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14B8A6"/>
                </a:solidFill>
              </a:defRPr>
            </a:pPr>
            <a:r>
              <a:t>calculate_order_total</a:t>
            </a:r>
          </a:p>
        </p:txBody>
      </p:sp>
      <p:sp>
        <p:nvSpPr>
          <p:cNvPr id="11" name="Down Arrow 10"/>
          <p:cNvSpPr/>
          <p:nvPr/>
        </p:nvSpPr>
        <p:spPr>
          <a:xfrm>
            <a:off x="5760720" y="4526279"/>
            <a:ext cx="274320" cy="228600"/>
          </a:xfrm>
          <a:prstGeom prst="downArrow">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200400" y="4754880"/>
            <a:ext cx="5486400" cy="548640"/>
          </a:xfrm>
          <a:prstGeom prst="roundRect">
            <a:avLst/>
          </a:prstGeom>
          <a:solidFill>
            <a:srgbClr val="1A1A1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F59E0B"/>
                </a:solidFill>
              </a:defRPr>
            </a:pPr>
            <a:r>
              <a:t>create_order_draft</a:t>
            </a:r>
          </a:p>
        </p:txBody>
      </p:sp>
      <p:sp>
        <p:nvSpPr>
          <p:cNvPr id="13" name="Down Arrow 12"/>
          <p:cNvSpPr/>
          <p:nvPr/>
        </p:nvSpPr>
        <p:spPr>
          <a:xfrm>
            <a:off x="5760720" y="5303520"/>
            <a:ext cx="274320" cy="228600"/>
          </a:xfrm>
          <a:prstGeom prst="downArrow">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200400" y="5532120"/>
            <a:ext cx="5486400" cy="548640"/>
          </a:xfrm>
          <a:prstGeom prst="roundRect">
            <a:avLst/>
          </a:prstGeom>
          <a:solidFill>
            <a:srgbClr val="1A1A1A"/>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F97316"/>
                </a:solidFill>
              </a:defRPr>
            </a:pPr>
            <a:r>
              <a:t>PENDING APPROVAL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274320"/>
            <a:ext cx="10698480" cy="731520"/>
          </a:xfrm>
          <a:prstGeom prst="rect">
            <a:avLst/>
          </a:prstGeom>
          <a:noFill/>
        </p:spPr>
        <p:txBody>
          <a:bodyPr wrap="square">
            <a:spAutoFit/>
          </a:bodyPr>
          <a:lstStyle/>
          <a:p>
            <a:pPr algn="l">
              <a:defRPr sz="4000" b="1">
                <a:solidFill>
                  <a:srgbClr val="F5F5F5"/>
                </a:solidFill>
              </a:defRPr>
            </a:pPr>
            <a:r>
              <a:t>The Boundary</a:t>
            </a:r>
          </a:p>
        </p:txBody>
      </p:sp>
      <p:sp>
        <p:nvSpPr>
          <p:cNvPr id="3" name="TextBox 2"/>
          <p:cNvSpPr txBox="1"/>
          <p:nvPr/>
        </p:nvSpPr>
        <p:spPr>
          <a:xfrm>
            <a:off x="731520" y="1005840"/>
            <a:ext cx="10698480" cy="457200"/>
          </a:xfrm>
          <a:prstGeom prst="rect">
            <a:avLst/>
          </a:prstGeom>
          <a:noFill/>
        </p:spPr>
        <p:txBody>
          <a:bodyPr wrap="square">
            <a:spAutoFit/>
          </a:bodyPr>
          <a:lstStyle/>
          <a:p>
            <a:pPr algn="l">
              <a:defRPr sz="2000" b="0">
                <a:solidFill>
                  <a:srgbClr val="A3A3A3"/>
                </a:solidFill>
              </a:defRPr>
            </a:pPr>
            <a:r>
              <a:t>Agent stops here</a:t>
            </a:r>
          </a:p>
        </p:txBody>
      </p:sp>
      <p:sp>
        <p:nvSpPr>
          <p:cNvPr id="4" name="Rounded Rectangle 3"/>
          <p:cNvSpPr/>
          <p:nvPr/>
        </p:nvSpPr>
        <p:spPr>
          <a:xfrm>
            <a:off x="2286000" y="1828800"/>
            <a:ext cx="7315200" cy="1371600"/>
          </a:xfrm>
          <a:prstGeom prst="roundRect">
            <a:avLst/>
          </a:prstGeom>
          <a:solidFill>
            <a:srgbClr val="1A1A1A"/>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800">
                <a:solidFill>
                  <a:srgbClr val="F97316"/>
                </a:solidFill>
              </a:defRPr>
            </a:pPr>
            <a:r>
              <a:t>pending_approval</a:t>
            </a:r>
          </a:p>
        </p:txBody>
      </p:sp>
      <p:sp>
        <p:nvSpPr>
          <p:cNvPr id="5" name="Rounded Rectangle 4"/>
          <p:cNvSpPr/>
          <p:nvPr/>
        </p:nvSpPr>
        <p:spPr>
          <a:xfrm>
            <a:off x="2286000" y="3657600"/>
            <a:ext cx="7315200" cy="2286000"/>
          </a:xfrm>
          <a:prstGeom prst="roundRect">
            <a:avLst/>
          </a:prstGeom>
          <a:solidFill>
            <a:srgbClr val="141414"/>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560320" y="3840480"/>
            <a:ext cx="6858000" cy="457200"/>
          </a:xfrm>
          <a:prstGeom prst="rect">
            <a:avLst/>
          </a:prstGeom>
          <a:noFill/>
        </p:spPr>
        <p:txBody>
          <a:bodyPr wrap="square">
            <a:spAutoFit/>
          </a:bodyPr>
          <a:lstStyle/>
          <a:p>
            <a:pPr algn="l">
              <a:defRPr sz="2400" b="1">
                <a:solidFill>
                  <a:srgbClr val="F97316"/>
                </a:solidFill>
              </a:defRPr>
            </a:pPr>
            <a:r>
              <a:t>Agent stops here</a:t>
            </a:r>
          </a:p>
        </p:txBody>
      </p:sp>
      <p:sp>
        <p:nvSpPr>
          <p:cNvPr id="7" name="TextBox 6"/>
          <p:cNvSpPr txBox="1"/>
          <p:nvPr/>
        </p:nvSpPr>
        <p:spPr>
          <a:xfrm>
            <a:off x="2560320" y="4389120"/>
            <a:ext cx="6858000" cy="1371600"/>
          </a:xfrm>
          <a:prstGeom prst="rect">
            <a:avLst/>
          </a:prstGeom>
          <a:noFill/>
        </p:spPr>
        <p:txBody>
          <a:bodyPr wrap="square">
            <a:spAutoFit/>
          </a:bodyPr>
          <a:lstStyle/>
          <a:p>
            <a:pPr algn="l">
              <a:defRPr sz="1800" b="0">
                <a:solidFill>
                  <a:srgbClr val="D4D4D4"/>
                </a:solidFill>
              </a:defRPr>
            </a:pPr>
            <a:r>
              <a:t>• No stock deduction</a:t>
            </a:r>
            <a:br/>
            <a:r>
              <a:t>• No transaction final</a:t>
            </a:r>
            <a:br/>
            <a:r>
              <a:t>• No customer notification</a:t>
            </a:r>
            <a:br/>
            <a:r>
              <a:t>• Order menunggu persetujuan manusia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274320"/>
            <a:ext cx="10698480" cy="731520"/>
          </a:xfrm>
          <a:prstGeom prst="rect">
            <a:avLst/>
          </a:prstGeom>
          <a:noFill/>
        </p:spPr>
        <p:txBody>
          <a:bodyPr wrap="square">
            <a:spAutoFit/>
          </a:bodyPr>
          <a:lstStyle/>
          <a:p>
            <a:pPr algn="l">
              <a:defRPr sz="4000" b="1">
                <a:solidFill>
                  <a:srgbClr val="F5F5F5"/>
                </a:solidFill>
              </a:defRPr>
            </a:pPr>
            <a:r>
              <a:t>Human Approval</a:t>
            </a:r>
          </a:p>
        </p:txBody>
      </p:sp>
      <p:sp>
        <p:nvSpPr>
          <p:cNvPr id="3" name="TextBox 2"/>
          <p:cNvSpPr txBox="1"/>
          <p:nvPr/>
        </p:nvSpPr>
        <p:spPr>
          <a:xfrm>
            <a:off x="731520" y="1005840"/>
            <a:ext cx="10698480" cy="457200"/>
          </a:xfrm>
          <a:prstGeom prst="rect">
            <a:avLst/>
          </a:prstGeom>
          <a:noFill/>
        </p:spPr>
        <p:txBody>
          <a:bodyPr wrap="square">
            <a:spAutoFit/>
          </a:bodyPr>
          <a:lstStyle/>
          <a:p>
            <a:pPr algn="l">
              <a:defRPr sz="2000" b="0">
                <a:solidFill>
                  <a:srgbClr val="A3A3A3"/>
                </a:solidFill>
              </a:defRPr>
            </a:pPr>
            <a:r>
              <a:t>Transaction gate</a:t>
            </a:r>
          </a:p>
        </p:txBody>
      </p:sp>
      <p:sp>
        <p:nvSpPr>
          <p:cNvPr id="4" name="Rounded Rectangle 3"/>
          <p:cNvSpPr/>
          <p:nvPr/>
        </p:nvSpPr>
        <p:spPr>
          <a:xfrm>
            <a:off x="731520" y="1828800"/>
            <a:ext cx="2286000" cy="914400"/>
          </a:xfrm>
          <a:prstGeom prst="roundRect">
            <a:avLst/>
          </a:prstGeom>
          <a:solidFill>
            <a:srgbClr val="1A1A1A"/>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B82F6"/>
                </a:solidFill>
              </a:defRPr>
            </a:pPr>
            <a:r>
              <a:t>Dashboard</a:t>
            </a:r>
            <a:br/>
            <a:r>
              <a:t>Approval Queue</a:t>
            </a:r>
          </a:p>
        </p:txBody>
      </p:sp>
      <p:sp>
        <p:nvSpPr>
          <p:cNvPr id="5" name="Right Arrow 4"/>
          <p:cNvSpPr/>
          <p:nvPr/>
        </p:nvSpPr>
        <p:spPr>
          <a:xfrm>
            <a:off x="3200400" y="2103120"/>
            <a:ext cx="548640" cy="365760"/>
          </a:xfrm>
          <a:prstGeom prst="rightArrow">
            <a:avLst/>
          </a:prstGeom>
          <a:solidFill>
            <a:srgbClr val="5252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931920" y="1828800"/>
            <a:ext cx="2286000" cy="914400"/>
          </a:xfrm>
          <a:prstGeom prst="roundRect">
            <a:avLst/>
          </a:prstGeom>
          <a:solidFill>
            <a:srgbClr val="1A1A1A"/>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F97316"/>
                </a:solidFill>
              </a:defRPr>
            </a:pPr>
            <a:r>
              <a:t>Human Reviews</a:t>
            </a:r>
            <a:br/>
            <a:r>
              <a:t>Order Detail</a:t>
            </a:r>
          </a:p>
        </p:txBody>
      </p:sp>
      <p:sp>
        <p:nvSpPr>
          <p:cNvPr id="7" name="Right Arrow 6"/>
          <p:cNvSpPr/>
          <p:nvPr/>
        </p:nvSpPr>
        <p:spPr>
          <a:xfrm>
            <a:off x="6400800" y="2103120"/>
            <a:ext cx="548640" cy="365760"/>
          </a:xfrm>
          <a:prstGeom prst="rightArrow">
            <a:avLst/>
          </a:prstGeom>
          <a:solidFill>
            <a:srgbClr val="5252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132320" y="1828800"/>
            <a:ext cx="2286000" cy="914400"/>
          </a:xfrm>
          <a:prstGeom prst="roundRect">
            <a:avLst/>
          </a:prstGeom>
          <a:solidFill>
            <a:srgbClr val="1A1A1A"/>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22C55E"/>
                </a:solidFill>
              </a:defRPr>
            </a:pPr>
            <a:r>
              <a:t>Approve</a:t>
            </a:r>
            <a:br/>
            <a:r>
              <a:t>Confirm</a:t>
            </a:r>
          </a:p>
        </p:txBody>
      </p:sp>
      <p:sp>
        <p:nvSpPr>
          <p:cNvPr id="9" name="Right Arrow 8"/>
          <p:cNvSpPr/>
          <p:nvPr/>
        </p:nvSpPr>
        <p:spPr>
          <a:xfrm>
            <a:off x="9601200" y="2103120"/>
            <a:ext cx="548640" cy="365760"/>
          </a:xfrm>
          <a:prstGeom prst="rightArrow">
            <a:avLst/>
          </a:prstGeom>
          <a:solidFill>
            <a:srgbClr val="5252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0332720" y="1828800"/>
            <a:ext cx="1371600" cy="914400"/>
          </a:xfrm>
          <a:prstGeom prst="roundRect">
            <a:avLst/>
          </a:prstGeom>
          <a:solidFill>
            <a:srgbClr val="1A1A1A"/>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22C55E"/>
                </a:solidFill>
              </a:defRPr>
            </a:pPr>
            <a:r>
              <a:t>Status:</a:t>
            </a:r>
            <a:br/>
            <a:r>
              <a:t>approved</a:t>
            </a:r>
          </a:p>
        </p:txBody>
      </p:sp>
      <p:sp>
        <p:nvSpPr>
          <p:cNvPr id="11" name="Rounded Rectangle 10"/>
          <p:cNvSpPr/>
          <p:nvPr/>
        </p:nvSpPr>
        <p:spPr>
          <a:xfrm>
            <a:off x="731520" y="3200400"/>
            <a:ext cx="10698480" cy="2743200"/>
          </a:xfrm>
          <a:prstGeom prst="roundRect">
            <a:avLst/>
          </a:prstGeom>
          <a:solidFill>
            <a:srgbClr val="141414"/>
          </a:solidFill>
          <a:ln w="190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383280"/>
            <a:ext cx="10058400" cy="457200"/>
          </a:xfrm>
          <a:prstGeom prst="rect">
            <a:avLst/>
          </a:prstGeom>
          <a:noFill/>
        </p:spPr>
        <p:txBody>
          <a:bodyPr wrap="square">
            <a:spAutoFit/>
          </a:bodyPr>
          <a:lstStyle/>
          <a:p>
            <a:pPr algn="l">
              <a:defRPr sz="1800" b="1">
                <a:solidFill>
                  <a:srgbClr val="F5F5F5"/>
                </a:solidFill>
              </a:defRPr>
            </a:pPr>
            <a:r>
              <a:t>What Human Sees in Dashboard:</a:t>
            </a:r>
          </a:p>
        </p:txBody>
      </p:sp>
      <p:sp>
        <p:nvSpPr>
          <p:cNvPr id="13" name="TextBox 12"/>
          <p:cNvSpPr txBox="1"/>
          <p:nvPr/>
        </p:nvSpPr>
        <p:spPr>
          <a:xfrm>
            <a:off x="914400" y="3931920"/>
            <a:ext cx="10058400" cy="1828800"/>
          </a:xfrm>
          <a:prstGeom prst="rect">
            <a:avLst/>
          </a:prstGeom>
          <a:noFill/>
        </p:spPr>
        <p:txBody>
          <a:bodyPr wrap="square">
            <a:spAutoFit/>
          </a:bodyPr>
          <a:lstStyle/>
          <a:p>
            <a:pPr algn="l">
              <a:defRPr sz="1600" b="0">
                <a:solidFill>
                  <a:srgbClr val="D4D4D4"/>
                </a:solidFill>
              </a:defRPr>
            </a:pPr>
            <a:r>
              <a:t>• Order details: product, SKU, quantity, price</a:t>
            </a:r>
            <a:br/>
            <a:r>
              <a:t>• Stock information</a:t>
            </a:r>
            <a:br/>
            <a:r>
              <a:t>• Audit trail</a:t>
            </a:r>
            <a:br/>
            <a:r>
              <a:t>• Approve / Reject buttons</a:t>
            </a:r>
            <a:br/>
            <a:r>
              <a:t>• Confirmation dialog with consequences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274320"/>
            <a:ext cx="10698480" cy="731520"/>
          </a:xfrm>
          <a:prstGeom prst="rect">
            <a:avLst/>
          </a:prstGeom>
          <a:noFill/>
        </p:spPr>
        <p:txBody>
          <a:bodyPr wrap="square">
            <a:spAutoFit/>
          </a:bodyPr>
          <a:lstStyle/>
          <a:p>
            <a:pPr algn="l">
              <a:defRPr sz="4000" b="1">
                <a:solidFill>
                  <a:srgbClr val="F5F5F5"/>
                </a:solidFill>
              </a:defRPr>
            </a:pPr>
            <a:r>
              <a:t>Real Effect</a:t>
            </a:r>
          </a:p>
        </p:txBody>
      </p:sp>
      <p:sp>
        <p:nvSpPr>
          <p:cNvPr id="3" name="TextBox 2"/>
          <p:cNvSpPr txBox="1"/>
          <p:nvPr/>
        </p:nvSpPr>
        <p:spPr>
          <a:xfrm>
            <a:off x="731520" y="1005840"/>
            <a:ext cx="10698480" cy="457200"/>
          </a:xfrm>
          <a:prstGeom prst="rect">
            <a:avLst/>
          </a:prstGeom>
          <a:noFill/>
        </p:spPr>
        <p:txBody>
          <a:bodyPr wrap="square">
            <a:spAutoFit/>
          </a:bodyPr>
          <a:lstStyle/>
          <a:p>
            <a:pPr algn="l">
              <a:defRPr sz="2000" b="0">
                <a:solidFill>
                  <a:srgbClr val="A3A3A3"/>
                </a:solidFill>
              </a:defRPr>
            </a:pPr>
            <a:r>
              <a:t>Stock transition after approval</a:t>
            </a:r>
          </a:p>
        </p:txBody>
      </p:sp>
      <p:sp>
        <p:nvSpPr>
          <p:cNvPr id="4" name="Rounded Rectangle 3"/>
          <p:cNvSpPr/>
          <p:nvPr/>
        </p:nvSpPr>
        <p:spPr>
          <a:xfrm>
            <a:off x="1371600" y="1828800"/>
            <a:ext cx="2743200" cy="1828800"/>
          </a:xfrm>
          <a:prstGeom prst="roundRect">
            <a:avLst/>
          </a:prstGeom>
          <a:solidFill>
            <a:srgbClr val="1A1A1A"/>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a:solidFill>
                  <a:srgbClr val="22C55E"/>
                </a:solidFill>
              </a:defRPr>
            </a:pPr>
            <a:r>
              <a:t>Stock Before</a:t>
            </a:r>
            <a:br/>
            <a:br/>
            <a:r>
              <a:t>5</a:t>
            </a:r>
          </a:p>
        </p:txBody>
      </p:sp>
      <p:sp>
        <p:nvSpPr>
          <p:cNvPr id="5" name="Right Arrow 4"/>
          <p:cNvSpPr/>
          <p:nvPr/>
        </p:nvSpPr>
        <p:spPr>
          <a:xfrm>
            <a:off x="4389120" y="2468880"/>
            <a:ext cx="914400" cy="548640"/>
          </a:xfrm>
          <a:prstGeom prst="rightArrow">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0" y="1828800"/>
            <a:ext cx="2743200" cy="1828800"/>
          </a:xfrm>
          <a:prstGeom prst="roundRect">
            <a:avLst/>
          </a:prstGeom>
          <a:solidFill>
            <a:srgbClr val="1A1A1A"/>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a:solidFill>
                  <a:srgbClr val="F97316"/>
                </a:solidFill>
              </a:defRPr>
            </a:pPr>
            <a:r>
              <a:t>Stock After</a:t>
            </a:r>
            <a:br/>
            <a:br/>
            <a:r>
              <a:t>4</a:t>
            </a:r>
          </a:p>
        </p:txBody>
      </p:sp>
      <p:sp>
        <p:nvSpPr>
          <p:cNvPr id="7" name="Rounded Rectangle 6"/>
          <p:cNvSpPr/>
          <p:nvPr/>
        </p:nvSpPr>
        <p:spPr>
          <a:xfrm>
            <a:off x="1371600" y="4114800"/>
            <a:ext cx="2743200" cy="1371600"/>
          </a:xfrm>
          <a:prstGeom prst="roundRect">
            <a:avLst/>
          </a:prstGeom>
          <a:solidFill>
            <a:srgbClr val="141414"/>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54480" y="4297680"/>
            <a:ext cx="2377440" cy="914400"/>
          </a:xfrm>
          <a:prstGeom prst="rect">
            <a:avLst/>
          </a:prstGeom>
          <a:noFill/>
        </p:spPr>
        <p:txBody>
          <a:bodyPr wrap="square">
            <a:spAutoFit/>
          </a:bodyPr>
          <a:lstStyle/>
          <a:p>
            <a:pPr algn="l">
              <a:defRPr sz="1400" b="0">
                <a:solidFill>
                  <a:srgbClr val="22C55E"/>
                </a:solidFill>
              </a:defRPr>
            </a:pPr>
            <a:r>
              <a:t>✓ Customer notified</a:t>
            </a:r>
            <a:br/>
            <a:r>
              <a:t>✓ Audit trail recorded</a:t>
            </a:r>
          </a:p>
        </p:txBody>
      </p:sp>
      <p:sp>
        <p:nvSpPr>
          <p:cNvPr id="9" name="Rounded Rectangle 8"/>
          <p:cNvSpPr/>
          <p:nvPr/>
        </p:nvSpPr>
        <p:spPr>
          <a:xfrm>
            <a:off x="5486400" y="4114800"/>
            <a:ext cx="2743200" cy="1371600"/>
          </a:xfrm>
          <a:prstGeom prst="roundRect">
            <a:avLst/>
          </a:prstGeom>
          <a:solidFill>
            <a:srgbClr val="141414"/>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4297680"/>
            <a:ext cx="2377440" cy="914400"/>
          </a:xfrm>
          <a:prstGeom prst="rect">
            <a:avLst/>
          </a:prstGeom>
          <a:noFill/>
        </p:spPr>
        <p:txBody>
          <a:bodyPr wrap="square">
            <a:spAutoFit/>
          </a:bodyPr>
          <a:lstStyle/>
          <a:p>
            <a:pPr algn="l">
              <a:defRPr sz="1400" b="0">
                <a:solidFill>
                  <a:srgbClr val="F97316"/>
                </a:solidFill>
              </a:defRPr>
            </a:pPr>
            <a:r>
              <a:t>✓ Transaction committed</a:t>
            </a:r>
            <a:br/>
            <a:r>
              <a:t>✓ Status: approved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274320"/>
            <a:ext cx="10698480" cy="731520"/>
          </a:xfrm>
          <a:prstGeom prst="rect">
            <a:avLst/>
          </a:prstGeom>
          <a:noFill/>
        </p:spPr>
        <p:txBody>
          <a:bodyPr wrap="square">
            <a:spAutoFit/>
          </a:bodyPr>
          <a:lstStyle/>
          <a:p>
            <a:pPr algn="l">
              <a:defRPr sz="4000" b="1">
                <a:solidFill>
                  <a:srgbClr val="F5F5F5"/>
                </a:solidFill>
              </a:defRPr>
            </a:pPr>
            <a:r>
              <a:t>Audit Trail</a:t>
            </a:r>
          </a:p>
        </p:txBody>
      </p:sp>
      <p:sp>
        <p:nvSpPr>
          <p:cNvPr id="3" name="TextBox 2"/>
          <p:cNvSpPr txBox="1"/>
          <p:nvPr/>
        </p:nvSpPr>
        <p:spPr>
          <a:xfrm>
            <a:off x="731520" y="1005840"/>
            <a:ext cx="10698480" cy="457200"/>
          </a:xfrm>
          <a:prstGeom prst="rect">
            <a:avLst/>
          </a:prstGeom>
          <a:noFill/>
        </p:spPr>
        <p:txBody>
          <a:bodyPr wrap="square">
            <a:spAutoFit/>
          </a:bodyPr>
          <a:lstStyle/>
          <a:p>
            <a:pPr algn="l">
              <a:defRPr sz="2000" b="0">
                <a:solidFill>
                  <a:srgbClr val="A3A3A3"/>
                </a:solidFill>
              </a:defRPr>
            </a:pPr>
            <a:r>
              <a:t>4 entries with clear actor attribution</a:t>
            </a:r>
          </a:p>
        </p:txBody>
      </p:sp>
      <p:sp>
        <p:nvSpPr>
          <p:cNvPr id="4" name="Rounded Rectangle 3"/>
          <p:cNvSpPr/>
          <p:nvPr/>
        </p:nvSpPr>
        <p:spPr>
          <a:xfrm>
            <a:off x="731520" y="1371600"/>
            <a:ext cx="548640" cy="54864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0A0A0A"/>
                </a:solidFill>
              </a:defRPr>
            </a:pPr>
            <a:r>
              <a:t>1</a:t>
            </a:r>
          </a:p>
        </p:txBody>
      </p:sp>
      <p:sp>
        <p:nvSpPr>
          <p:cNvPr id="5" name="Rounded Rectangle 4"/>
          <p:cNvSpPr/>
          <p:nvPr/>
        </p:nvSpPr>
        <p:spPr>
          <a:xfrm>
            <a:off x="1463040" y="1371600"/>
            <a:ext cx="1097280" cy="548640"/>
          </a:xfrm>
          <a:prstGeom prst="roundRect">
            <a:avLst/>
          </a:prstGeom>
          <a:solidFill>
            <a:srgbClr val="1A1A1A"/>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3B82F6"/>
                </a:solidFill>
              </a:defRPr>
            </a:pPr>
            <a:r>
              <a:t>agent</a:t>
            </a:r>
          </a:p>
        </p:txBody>
      </p:sp>
      <p:sp>
        <p:nvSpPr>
          <p:cNvPr id="6" name="TextBox 5"/>
          <p:cNvSpPr txBox="1"/>
          <p:nvPr/>
        </p:nvSpPr>
        <p:spPr>
          <a:xfrm>
            <a:off x="2743200" y="1371600"/>
            <a:ext cx="2286000" cy="548640"/>
          </a:xfrm>
          <a:prstGeom prst="rect">
            <a:avLst/>
          </a:prstGeom>
          <a:noFill/>
        </p:spPr>
        <p:txBody>
          <a:bodyPr wrap="square">
            <a:spAutoFit/>
          </a:bodyPr>
          <a:lstStyle/>
          <a:p>
            <a:pPr algn="l">
              <a:defRPr sz="1600" b="1">
                <a:solidFill>
                  <a:srgbClr val="3B82F6"/>
                </a:solidFill>
              </a:defRPr>
            </a:pPr>
            <a:r>
              <a:t>create_draft</a:t>
            </a:r>
          </a:p>
        </p:txBody>
      </p:sp>
      <p:sp>
        <p:nvSpPr>
          <p:cNvPr id="7" name="TextBox 6"/>
          <p:cNvSpPr txBox="1"/>
          <p:nvPr/>
        </p:nvSpPr>
        <p:spPr>
          <a:xfrm>
            <a:off x="5029200" y="1371600"/>
            <a:ext cx="6400800" cy="548640"/>
          </a:xfrm>
          <a:prstGeom prst="rect">
            <a:avLst/>
          </a:prstGeom>
          <a:noFill/>
        </p:spPr>
        <p:txBody>
          <a:bodyPr wrap="square">
            <a:spAutoFit/>
          </a:bodyPr>
          <a:lstStyle/>
          <a:p>
            <a:pPr algn="l">
              <a:defRPr sz="1600" b="0">
                <a:solidFill>
                  <a:srgbClr val="D4D4D4"/>
                </a:solidFill>
              </a:defRPr>
            </a:pPr>
            <a:r>
              <a:t>Order created as pending_approval</a:t>
            </a:r>
          </a:p>
        </p:txBody>
      </p:sp>
      <p:sp>
        <p:nvSpPr>
          <p:cNvPr id="8" name="Rounded Rectangle 7"/>
          <p:cNvSpPr/>
          <p:nvPr/>
        </p:nvSpPr>
        <p:spPr>
          <a:xfrm>
            <a:off x="731520" y="2560320"/>
            <a:ext cx="548640" cy="548640"/>
          </a:xfrm>
          <a:prstGeom prst="round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0A0A0A"/>
                </a:solidFill>
              </a:defRPr>
            </a:pPr>
            <a:r>
              <a:t>2</a:t>
            </a:r>
          </a:p>
        </p:txBody>
      </p:sp>
      <p:sp>
        <p:nvSpPr>
          <p:cNvPr id="9" name="Rounded Rectangle 8"/>
          <p:cNvSpPr/>
          <p:nvPr/>
        </p:nvSpPr>
        <p:spPr>
          <a:xfrm>
            <a:off x="1463040" y="2560320"/>
            <a:ext cx="1097280" cy="548640"/>
          </a:xfrm>
          <a:prstGeom prst="roundRect">
            <a:avLst/>
          </a:prstGeom>
          <a:solidFill>
            <a:srgbClr val="1A1A1A"/>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97316"/>
                </a:solidFill>
              </a:defRPr>
            </a:pPr>
            <a:r>
              <a:t>human</a:t>
            </a:r>
          </a:p>
        </p:txBody>
      </p:sp>
      <p:sp>
        <p:nvSpPr>
          <p:cNvPr id="10" name="TextBox 9"/>
          <p:cNvSpPr txBox="1"/>
          <p:nvPr/>
        </p:nvSpPr>
        <p:spPr>
          <a:xfrm>
            <a:off x="2743200" y="2560320"/>
            <a:ext cx="2286000" cy="548640"/>
          </a:xfrm>
          <a:prstGeom prst="rect">
            <a:avLst/>
          </a:prstGeom>
          <a:noFill/>
        </p:spPr>
        <p:txBody>
          <a:bodyPr wrap="square">
            <a:spAutoFit/>
          </a:bodyPr>
          <a:lstStyle/>
          <a:p>
            <a:pPr algn="l">
              <a:defRPr sz="1600" b="1">
                <a:solidFill>
                  <a:srgbClr val="F97316"/>
                </a:solidFill>
              </a:defRPr>
            </a:pPr>
            <a:r>
              <a:t>APPROVE_ORDER</a:t>
            </a:r>
          </a:p>
        </p:txBody>
      </p:sp>
      <p:sp>
        <p:nvSpPr>
          <p:cNvPr id="11" name="TextBox 10"/>
          <p:cNvSpPr txBox="1"/>
          <p:nvPr/>
        </p:nvSpPr>
        <p:spPr>
          <a:xfrm>
            <a:off x="5029200" y="2560320"/>
            <a:ext cx="6400800" cy="548640"/>
          </a:xfrm>
          <a:prstGeom prst="rect">
            <a:avLst/>
          </a:prstGeom>
          <a:noFill/>
        </p:spPr>
        <p:txBody>
          <a:bodyPr wrap="square">
            <a:spAutoFit/>
          </a:bodyPr>
          <a:lstStyle/>
          <a:p>
            <a:pPr algn="l">
              <a:defRPr sz="1600" b="0">
                <a:solidFill>
                  <a:srgbClr val="D4D4D4"/>
                </a:solidFill>
              </a:defRPr>
            </a:pPr>
            <a:r>
              <a:t>Human approves via UI</a:t>
            </a:r>
          </a:p>
        </p:txBody>
      </p:sp>
      <p:sp>
        <p:nvSpPr>
          <p:cNvPr id="12" name="Rounded Rectangle 11"/>
          <p:cNvSpPr/>
          <p:nvPr/>
        </p:nvSpPr>
        <p:spPr>
          <a:xfrm>
            <a:off x="731520" y="3749039"/>
            <a:ext cx="548640" cy="548640"/>
          </a:xfrm>
          <a:prstGeom prst="round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0A0A0A"/>
                </a:solidFill>
              </a:defRPr>
            </a:pPr>
            <a:r>
              <a:t>3</a:t>
            </a:r>
          </a:p>
        </p:txBody>
      </p:sp>
      <p:sp>
        <p:nvSpPr>
          <p:cNvPr id="13" name="Rounded Rectangle 12"/>
          <p:cNvSpPr/>
          <p:nvPr/>
        </p:nvSpPr>
        <p:spPr>
          <a:xfrm>
            <a:off x="1463040" y="3749039"/>
            <a:ext cx="1097280" cy="548640"/>
          </a:xfrm>
          <a:prstGeom prst="roundRect">
            <a:avLst/>
          </a:prstGeom>
          <a:solidFill>
            <a:srgbClr val="1A1A1A"/>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22C55E"/>
                </a:solidFill>
              </a:defRPr>
            </a:pPr>
            <a:r>
              <a:t>agent</a:t>
            </a:r>
          </a:p>
        </p:txBody>
      </p:sp>
      <p:sp>
        <p:nvSpPr>
          <p:cNvPr id="14" name="TextBox 13"/>
          <p:cNvSpPr txBox="1"/>
          <p:nvPr/>
        </p:nvSpPr>
        <p:spPr>
          <a:xfrm>
            <a:off x="2743200" y="3749039"/>
            <a:ext cx="2286000" cy="548640"/>
          </a:xfrm>
          <a:prstGeom prst="rect">
            <a:avLst/>
          </a:prstGeom>
          <a:noFill/>
        </p:spPr>
        <p:txBody>
          <a:bodyPr wrap="square">
            <a:spAutoFit/>
          </a:bodyPr>
          <a:lstStyle/>
          <a:p>
            <a:pPr algn="l">
              <a:defRPr sz="1600" b="1">
                <a:solidFill>
                  <a:srgbClr val="22C55E"/>
                </a:solidFill>
              </a:defRPr>
            </a:pPr>
            <a:r>
              <a:t>DEDUCT_STOCK</a:t>
            </a:r>
          </a:p>
        </p:txBody>
      </p:sp>
      <p:sp>
        <p:nvSpPr>
          <p:cNvPr id="15" name="TextBox 14"/>
          <p:cNvSpPr txBox="1"/>
          <p:nvPr/>
        </p:nvSpPr>
        <p:spPr>
          <a:xfrm>
            <a:off x="5029200" y="3749039"/>
            <a:ext cx="6400800" cy="548640"/>
          </a:xfrm>
          <a:prstGeom prst="rect">
            <a:avLst/>
          </a:prstGeom>
          <a:noFill/>
        </p:spPr>
        <p:txBody>
          <a:bodyPr wrap="square">
            <a:spAutoFit/>
          </a:bodyPr>
          <a:lstStyle/>
          <a:p>
            <a:pPr algn="l">
              <a:defRPr sz="1600" b="0">
                <a:solidFill>
                  <a:srgbClr val="D4D4D4"/>
                </a:solidFill>
              </a:defRPr>
            </a:pPr>
            <a:r>
              <a:t>Stock deducted: 5 → 4</a:t>
            </a:r>
          </a:p>
        </p:txBody>
      </p:sp>
      <p:sp>
        <p:nvSpPr>
          <p:cNvPr id="16" name="Rounded Rectangle 15"/>
          <p:cNvSpPr/>
          <p:nvPr/>
        </p:nvSpPr>
        <p:spPr>
          <a:xfrm>
            <a:off x="731520" y="4937760"/>
            <a:ext cx="548640" cy="54864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0A0A0A"/>
                </a:solidFill>
              </a:defRPr>
            </a:pPr>
            <a:r>
              <a:t>4</a:t>
            </a:r>
          </a:p>
        </p:txBody>
      </p:sp>
      <p:sp>
        <p:nvSpPr>
          <p:cNvPr id="17" name="Rounded Rectangle 16"/>
          <p:cNvSpPr/>
          <p:nvPr/>
        </p:nvSpPr>
        <p:spPr>
          <a:xfrm>
            <a:off x="1463040" y="4937760"/>
            <a:ext cx="1097280" cy="548640"/>
          </a:xfrm>
          <a:prstGeom prst="roundRect">
            <a:avLst/>
          </a:prstGeom>
          <a:solidFill>
            <a:srgbClr val="1A1A1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14B8A6"/>
                </a:solidFill>
              </a:defRPr>
            </a:pPr>
            <a:r>
              <a:t>agent</a:t>
            </a:r>
          </a:p>
        </p:txBody>
      </p:sp>
      <p:sp>
        <p:nvSpPr>
          <p:cNvPr id="18" name="TextBox 17"/>
          <p:cNvSpPr txBox="1"/>
          <p:nvPr/>
        </p:nvSpPr>
        <p:spPr>
          <a:xfrm>
            <a:off x="2743200" y="4937760"/>
            <a:ext cx="2286000" cy="548640"/>
          </a:xfrm>
          <a:prstGeom prst="rect">
            <a:avLst/>
          </a:prstGeom>
          <a:noFill/>
        </p:spPr>
        <p:txBody>
          <a:bodyPr wrap="square">
            <a:spAutoFit/>
          </a:bodyPr>
          <a:lstStyle/>
          <a:p>
            <a:pPr algn="l">
              <a:defRPr sz="1600" b="1">
                <a:solidFill>
                  <a:srgbClr val="14B8A6"/>
                </a:solidFill>
              </a:defRPr>
            </a:pPr>
            <a:r>
              <a:t>NOTIFY_CUSTOMER</a:t>
            </a:r>
          </a:p>
        </p:txBody>
      </p:sp>
      <p:sp>
        <p:nvSpPr>
          <p:cNvPr id="19" name="TextBox 18"/>
          <p:cNvSpPr txBox="1"/>
          <p:nvPr/>
        </p:nvSpPr>
        <p:spPr>
          <a:xfrm>
            <a:off x="5029200" y="4937760"/>
            <a:ext cx="6400800" cy="548640"/>
          </a:xfrm>
          <a:prstGeom prst="rect">
            <a:avLst/>
          </a:prstGeom>
          <a:noFill/>
        </p:spPr>
        <p:txBody>
          <a:bodyPr wrap="square">
            <a:spAutoFit/>
          </a:bodyPr>
          <a:lstStyle/>
          <a:p>
            <a:pPr algn="l">
              <a:defRPr sz="1600" b="0">
                <a:solidFill>
                  <a:srgbClr val="D4D4D4"/>
                </a:solidFill>
              </a:defRPr>
            </a:pPr>
            <a:r>
              <a:t>Customer notified via WhatsApp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274320"/>
            <a:ext cx="10698480" cy="731520"/>
          </a:xfrm>
          <a:prstGeom prst="rect">
            <a:avLst/>
          </a:prstGeom>
          <a:noFill/>
        </p:spPr>
        <p:txBody>
          <a:bodyPr wrap="square">
            <a:spAutoFit/>
          </a:bodyPr>
          <a:lstStyle/>
          <a:p>
            <a:pPr algn="l">
              <a:defRPr sz="4000" b="1">
                <a:solidFill>
                  <a:srgbClr val="F5F5F5"/>
                </a:solidFill>
              </a:defRPr>
            </a:pPr>
            <a:r>
              <a:t>Attack the Boundary</a:t>
            </a:r>
          </a:p>
        </p:txBody>
      </p:sp>
      <p:sp>
        <p:nvSpPr>
          <p:cNvPr id="3" name="TextBox 2"/>
          <p:cNvSpPr txBox="1"/>
          <p:nvPr/>
        </p:nvSpPr>
        <p:spPr>
          <a:xfrm>
            <a:off x="731520" y="1005840"/>
            <a:ext cx="10698480" cy="457200"/>
          </a:xfrm>
          <a:prstGeom prst="rect">
            <a:avLst/>
          </a:prstGeom>
          <a:noFill/>
        </p:spPr>
        <p:txBody>
          <a:bodyPr wrap="square">
            <a:spAutoFit/>
          </a:bodyPr>
          <a:lstStyle/>
          <a:p>
            <a:pPr algn="l">
              <a:defRPr sz="2000" b="0">
                <a:solidFill>
                  <a:srgbClr val="A3A3A3"/>
                </a:solidFill>
              </a:defRPr>
            </a:pPr>
            <a:r>
              <a:t>Try to approve order</a:t>
            </a:r>
          </a:p>
        </p:txBody>
      </p:sp>
      <p:sp>
        <p:nvSpPr>
          <p:cNvPr id="4" name="Rounded Rectangle 3"/>
          <p:cNvSpPr/>
          <p:nvPr/>
        </p:nvSpPr>
        <p:spPr>
          <a:xfrm>
            <a:off x="731520" y="1645920"/>
            <a:ext cx="5029200" cy="2286000"/>
          </a:xfrm>
          <a:prstGeom prst="roundRect">
            <a:avLst/>
          </a:prstGeom>
          <a:solidFill>
            <a:srgbClr val="141414"/>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572000" cy="457200"/>
          </a:xfrm>
          <a:prstGeom prst="rect">
            <a:avLst/>
          </a:prstGeom>
          <a:noFill/>
        </p:spPr>
        <p:txBody>
          <a:bodyPr wrap="square">
            <a:spAutoFit/>
          </a:bodyPr>
          <a:lstStyle/>
          <a:p>
            <a:pPr algn="l">
              <a:defRPr sz="2000" b="1">
                <a:solidFill>
                  <a:srgbClr val="22C55E"/>
                </a:solidFill>
              </a:defRPr>
            </a:pPr>
            <a:r>
              <a:t>Available Tools</a:t>
            </a:r>
          </a:p>
        </p:txBody>
      </p:sp>
      <p:sp>
        <p:nvSpPr>
          <p:cNvPr id="6" name="TextBox 5"/>
          <p:cNvSpPr txBox="1"/>
          <p:nvPr/>
        </p:nvSpPr>
        <p:spPr>
          <a:xfrm>
            <a:off x="914400" y="2377440"/>
            <a:ext cx="4572000" cy="1371600"/>
          </a:xfrm>
          <a:prstGeom prst="rect">
            <a:avLst/>
          </a:prstGeom>
          <a:noFill/>
        </p:spPr>
        <p:txBody>
          <a:bodyPr wrap="square">
            <a:spAutoFit/>
          </a:bodyPr>
          <a:lstStyle/>
          <a:p>
            <a:pPr algn="l">
              <a:defRPr sz="1600" b="0">
                <a:solidFill>
                  <a:srgbClr val="22C55E"/>
                </a:solidFill>
              </a:defRPr>
            </a:pPr>
            <a:r>
              <a:t>✓ search_catalog</a:t>
            </a:r>
            <a:br/>
            <a:r>
              <a:t>✓ check_inventory</a:t>
            </a:r>
            <a:br/>
            <a:r>
              <a:t>✓ calculate_order_total</a:t>
            </a:r>
            <a:br/>
            <a:r>
              <a:t>✓ create_order_draft</a:t>
            </a:r>
          </a:p>
        </p:txBody>
      </p:sp>
      <p:sp>
        <p:nvSpPr>
          <p:cNvPr id="7" name="Rounded Rectangle 6"/>
          <p:cNvSpPr/>
          <p:nvPr/>
        </p:nvSpPr>
        <p:spPr>
          <a:xfrm>
            <a:off x="6400800" y="1645920"/>
            <a:ext cx="5029200" cy="2286000"/>
          </a:xfrm>
          <a:prstGeom prst="roundRect">
            <a:avLst/>
          </a:prstGeom>
          <a:solidFill>
            <a:srgbClr val="141414"/>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828800"/>
            <a:ext cx="4572000" cy="457200"/>
          </a:xfrm>
          <a:prstGeom prst="rect">
            <a:avLst/>
          </a:prstGeom>
          <a:noFill/>
        </p:spPr>
        <p:txBody>
          <a:bodyPr wrap="square">
            <a:spAutoFit/>
          </a:bodyPr>
          <a:lstStyle/>
          <a:p>
            <a:pPr algn="l">
              <a:defRPr sz="2000" b="1">
                <a:solidFill>
                  <a:srgbClr val="EF4444"/>
                </a:solidFill>
              </a:defRPr>
            </a:pPr>
            <a:r>
              <a:t>Not Available Tools</a:t>
            </a:r>
          </a:p>
        </p:txBody>
      </p:sp>
      <p:sp>
        <p:nvSpPr>
          <p:cNvPr id="9" name="TextBox 8"/>
          <p:cNvSpPr txBox="1"/>
          <p:nvPr/>
        </p:nvSpPr>
        <p:spPr>
          <a:xfrm>
            <a:off x="6583680" y="2377440"/>
            <a:ext cx="4572000" cy="1371600"/>
          </a:xfrm>
          <a:prstGeom prst="rect">
            <a:avLst/>
          </a:prstGeom>
          <a:noFill/>
        </p:spPr>
        <p:txBody>
          <a:bodyPr wrap="square">
            <a:spAutoFit/>
          </a:bodyPr>
          <a:lstStyle/>
          <a:p>
            <a:pPr algn="l">
              <a:defRPr sz="1600" b="0">
                <a:solidFill>
                  <a:srgbClr val="EF4444"/>
                </a:solidFill>
              </a:defRPr>
            </a:pPr>
            <a:r>
              <a:t>✗ approve_order</a:t>
            </a:r>
            <a:br/>
            <a:r>
              <a:t>✗ reject_order</a:t>
            </a:r>
            <a:br/>
            <a:r>
              <a:t>✗ deduct_stock</a:t>
            </a:r>
            <a:br/>
            <a:r>
              <a:t>✗ send_customer_message</a:t>
            </a:r>
          </a:p>
        </p:txBody>
      </p:sp>
      <p:sp>
        <p:nvSpPr>
          <p:cNvPr id="10" name="Rounded Rectangle 9"/>
          <p:cNvSpPr/>
          <p:nvPr/>
        </p:nvSpPr>
        <p:spPr>
          <a:xfrm>
            <a:off x="731520" y="4389120"/>
            <a:ext cx="10698480" cy="1371600"/>
          </a:xfrm>
          <a:prstGeom prst="roundRect">
            <a:avLst/>
          </a:prstGeom>
          <a:solidFill>
            <a:srgbClr val="1A1A1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572000"/>
            <a:ext cx="10058400" cy="914400"/>
          </a:xfrm>
          <a:prstGeom prst="rect">
            <a:avLst/>
          </a:prstGeom>
          <a:noFill/>
        </p:spPr>
        <p:txBody>
          <a:bodyPr wrap="square">
            <a:spAutoFit/>
          </a:bodyPr>
          <a:lstStyle/>
          <a:p>
            <a:pPr algn="ctr">
              <a:defRPr sz="2400" b="1">
                <a:solidFill>
                  <a:srgbClr val="F59E0B"/>
                </a:solidFill>
              </a:defRPr>
            </a:pPr>
            <a:r>
              <a:t>"Bukan karena prompt-nya melarang agent.</a:t>
            </a:r>
            <a:br/>
            <a:r>
              <a:t>Tool-nya memang tidak ada di MCP registry."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1828800"/>
            <a:ext cx="10698480" cy="1371600"/>
          </a:xfrm>
          <a:prstGeom prst="rect">
            <a:avLst/>
          </a:prstGeom>
          <a:noFill/>
        </p:spPr>
        <p:txBody>
          <a:bodyPr wrap="square">
            <a:spAutoFit/>
          </a:bodyPr>
          <a:lstStyle/>
          <a:p>
            <a:pPr algn="ctr">
              <a:defRPr sz="7200" b="1">
                <a:solidFill>
                  <a:srgbClr val="F5F5F5"/>
                </a:solidFill>
              </a:defRPr>
            </a:pPr>
            <a:r>
              <a:t>TUNTASUMKM</a:t>
            </a:r>
          </a:p>
        </p:txBody>
      </p:sp>
      <p:sp>
        <p:nvSpPr>
          <p:cNvPr id="3" name="TextBox 2"/>
          <p:cNvSpPr txBox="1"/>
          <p:nvPr/>
        </p:nvSpPr>
        <p:spPr>
          <a:xfrm>
            <a:off x="731520" y="3474720"/>
            <a:ext cx="10698480" cy="1828800"/>
          </a:xfrm>
          <a:prstGeom prst="rect">
            <a:avLst/>
          </a:prstGeom>
          <a:noFill/>
        </p:spPr>
        <p:txBody>
          <a:bodyPr wrap="square">
            <a:spAutoFit/>
          </a:bodyPr>
          <a:lstStyle/>
          <a:p>
            <a:pPr algn="ctr">
              <a:defRPr sz="2800" b="0">
                <a:solidFill>
                  <a:srgbClr val="A3A3A3"/>
                </a:solidFill>
              </a:defRPr>
            </a:pPr>
            <a:r>
              <a:t>Build Agent, Deliver Impact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