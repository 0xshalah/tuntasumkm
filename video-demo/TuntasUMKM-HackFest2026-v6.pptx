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Masalahnya bukan AI bisa membuat order. Masalahnya adalah: berapa banyak akses yang seharusnya kita berikan ke AI sebelum AI bisa menghabiskan uang, mengubah stok, atau mengirim sesuatu ke customer?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adalah AI-assisted order management, bukan AI-autonomous. AI Agent menerima intent customer, mencari produk, membuat draft order. Manusia memegang transaction gate. Backend menjalankan side effects. Semua diaudit.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Ini arsitektur TuntasUMKM dengan 3-layer boundary. Layer 1 - MCP Exposure: Hermes hanya memuat 4 capabilities. Layer 2 - Backend Authorization: Backend memvalidasi sebelum menjalankan effects. Layer 3 - Human Approval: Manusia memegang keputusan final.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Customer mengirim pesan: Saya mau pesan Sarung Tenun Samarinda 1 pcs. Agent menerima intent ini dan mulai bekerja.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Agent memanggil tools secara sequential. Perhatikan output terakhir: bukan approved order. Agent berhenti di draft.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Sampai sini AI berhenti. Status: pending_approval. Tidak ada stock deduction. Tidak ada transaksi final. Order menunggu persetujuan manusia.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 sini keputusan transaksional berpindah ke manusia. Agent tidak memiliki capability untuk melakukan approval.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Setelah human approval, backend menjalankan transaction effects. Stock: 5 → 4. Customer notified. Audit trail tercatat.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Empat entry audit trail. Setiap action tercatat dengan actor yang jelas. Entry 1: agent create_draft. Entry 2: human APPROVE_ORDER. Entry 3: agent DEDUCT_STOCK. Entry 4: agent NOTIFY_CUSTOMER.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Bukan karena prompt-nya melarang agent. Tool-nya memang tidak tersedia. Coba minta agent approve order. Agent gagal karena capability-nya memang tidak 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TuntasUMKM tidak mencoba membuat AI melakukan semuanya. Kami membuat AI melakukan hal yang tepat, dan berhenti di tempat yang tepat. Build Agent, Deliver Impact.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</a:defRPr>
            </a:pPr>
            <a:r>
              <a:t>AI Agent-assisted order management for UMKM</a:t>
            </a:r>
            <a:br/>
            <a:r>
              <a:t>with bounded authority and Human-in-the-Loop approval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Solution: AI-Assisted, Not AI-Autonomous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TuntasUMKM positioning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AI-Assisted (TuntasUMKM)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✓ AI searches products</a:t>
            </a:r>
            <a:br/>
            <a:r>
              <a:t>✓ AI creates draft order</a:t>
            </a:r>
            <a:br/>
            <a:r>
              <a:t>✓ Human approves transaction</a:t>
            </a:r>
            <a:br/>
            <a:r>
              <a:t>✓ Backend executes effects</a:t>
            </a:r>
            <a:br/>
            <a:r>
              <a:t>✓ Full audit trail</a:t>
            </a:r>
            <a:br/>
            <a:br/>
            <a:r>
              <a:t>AI has bounded authority.</a:t>
            </a:r>
            <a:br/>
            <a:r>
              <a:t>Human holds the gate.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4572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AI-Autonomous (Dangerous)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✗ AI approves own orders</a:t>
            </a:r>
            <a:br/>
            <a:r>
              <a:t>✗ AI deducts stock directly</a:t>
            </a:r>
            <a:br/>
            <a:r>
              <a:t>✗ AI sends messages directly</a:t>
            </a:r>
            <a:br/>
            <a:r>
              <a:t>✗ No human oversight</a:t>
            </a:r>
            <a:br/>
            <a:r>
              <a:t>✗ No audit trail</a:t>
            </a:r>
            <a:br/>
            <a:br/>
            <a:r>
              <a:t>AI has full authority.</a:t>
            </a:r>
            <a:br/>
            <a:r>
              <a:t>No human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Architecture: 3-Layer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MCP Exposure + Backend Authorization + Human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645920"/>
            <a:ext cx="9144000" cy="10972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82880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97316"/>
                </a:solidFill>
              </a:defRPr>
            </a:pPr>
            <a:r>
              <a:t>Layer 1: HUMAN / UI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219456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Approve / Reject  |  Business Authorization Gate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743200"/>
            <a:ext cx="274320" cy="36576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371600" y="3108960"/>
            <a:ext cx="9144000" cy="109728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2918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2C55E"/>
                </a:solidFill>
              </a:defRPr>
            </a:pPr>
            <a:r>
              <a:t>Layer 2: BACKEND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3657600"/>
            <a:ext cx="8778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Transaction Boundary  |  Stock / Notification  |  Audit Log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4206240"/>
            <a:ext cx="274320" cy="365760"/>
          </a:xfrm>
          <a:prstGeom prst="down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371600" y="4572000"/>
            <a:ext cx="9144000" cy="164592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554480" y="475488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3B82F6"/>
                </a:solidFill>
              </a:defRPr>
            </a:pPr>
            <a:r>
              <a:t>Layer 3: HERMES AGENT (MCP Exposure)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5212080"/>
            <a:ext cx="8778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D4D4"/>
                </a:solidFill>
              </a:defRPr>
            </a:pPr>
            <a:r>
              <a:t>✓ search_catalog  ✓ check_inventory  ✓ calculate_order_total  ✓ create_order_draft</a:t>
            </a:r>
            <a:br/>
            <a:br/>
            <a:r>
              <a:t>✗ approve_order  ✗ reject_order  ✗ deduct_stock  ✗ send_customer_message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User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Customer message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2286000"/>
            <a:ext cx="8229600" cy="18288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286000" y="2560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Customer says: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3017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5F5F5"/>
                </a:solidFill>
              </a:defRPr>
            </a:pPr>
            <a:r>
              <a:t>"Saya mau pesan Sarung Tenun Samarinda 1 pcs"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4297680"/>
            <a:ext cx="274320" cy="457200"/>
          </a:xfrm>
          <a:prstGeom prst="down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828800" y="5029200"/>
            <a:ext cx="82296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3B82F6"/>
                </a:solidFill>
              </a:defRPr>
            </a:pPr>
            <a:r>
              <a:t>Hermes Agent receives intent and starts working...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Agent 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Sequential tool calls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0" y="1645920"/>
            <a:ext cx="54864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94A3B8"/>
                </a:solidFill>
              </a:defRPr>
            </a:pPr>
            <a:r>
              <a:t>USER INTENT</a:t>
            </a:r>
          </a:p>
        </p:txBody>
      </p:sp>
      <p:sp>
        <p:nvSpPr>
          <p:cNvPr id="5" name="Down Arrow 4"/>
          <p:cNvSpPr/>
          <p:nvPr/>
        </p:nvSpPr>
        <p:spPr>
          <a:xfrm>
            <a:off x="5760720" y="2194560"/>
            <a:ext cx="274320" cy="228600"/>
          </a:xfrm>
          <a:prstGeom prst="downArrow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200400" y="2423160"/>
            <a:ext cx="54864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4B8A6"/>
                </a:solidFill>
              </a:defRPr>
            </a:pPr>
            <a:r>
              <a:t>search_catalog</a:t>
            </a:r>
          </a:p>
        </p:txBody>
      </p:sp>
      <p:sp>
        <p:nvSpPr>
          <p:cNvPr id="7" name="Down Arrow 6"/>
          <p:cNvSpPr/>
          <p:nvPr/>
        </p:nvSpPr>
        <p:spPr>
          <a:xfrm>
            <a:off x="5760720" y="2971800"/>
            <a:ext cx="274320" cy="2286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200400" y="3200400"/>
            <a:ext cx="54864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4B8A6"/>
                </a:solidFill>
              </a:defRPr>
            </a:pPr>
            <a:r>
              <a:t>check_inventory</a:t>
            </a:r>
          </a:p>
        </p:txBody>
      </p:sp>
      <p:sp>
        <p:nvSpPr>
          <p:cNvPr id="9" name="Down Arrow 8"/>
          <p:cNvSpPr/>
          <p:nvPr/>
        </p:nvSpPr>
        <p:spPr>
          <a:xfrm>
            <a:off x="5760720" y="3749039"/>
            <a:ext cx="274320" cy="2286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3977639"/>
            <a:ext cx="54864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14B8A6"/>
                </a:solidFill>
              </a:defRPr>
            </a:pPr>
            <a:r>
              <a:t>calculate_order_total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760720" y="4526279"/>
            <a:ext cx="274320" cy="228600"/>
          </a:xfrm>
          <a:prstGeom prst="downArrow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4754880"/>
            <a:ext cx="54864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59E0B"/>
                </a:solidFill>
              </a:defRPr>
            </a:pPr>
            <a:r>
              <a:t>create_order_draft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5760720" y="5303520"/>
            <a:ext cx="274320" cy="228600"/>
          </a:xfrm>
          <a:prstGeom prst="downArrow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00400" y="5532120"/>
            <a:ext cx="548640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F97316"/>
                </a:solidFill>
              </a:defRPr>
            </a:pPr>
            <a:r>
              <a:t>PENDING APPROVAL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The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Agent stops here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286000" y="1828800"/>
            <a:ext cx="731520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4800">
                <a:solidFill>
                  <a:srgbClr val="F97316"/>
                </a:solidFill>
              </a:defRPr>
            </a:pPr>
            <a:r>
              <a:t>pending_approval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731520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560320" y="3840480"/>
            <a:ext cx="685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97316"/>
                </a:solidFill>
              </a:defRPr>
            </a:pPr>
            <a:r>
              <a:t>Agent stops here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438912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4D4D4"/>
                </a:solidFill>
              </a:defRPr>
            </a:pPr>
            <a:r>
              <a:t>• No stock deduction</a:t>
            </a:r>
            <a:br/>
            <a:r>
              <a:t>• No transaction final</a:t>
            </a:r>
            <a:br/>
            <a:r>
              <a:t>• No customer notification</a:t>
            </a:r>
            <a:br/>
            <a:r>
              <a:t>• Order menunggu persetujuan manusia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Human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Transaction gate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2860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3B82F6"/>
                </a:solidFill>
              </a:defRPr>
            </a:pPr>
            <a:r>
              <a:t>Dashboard</a:t>
            </a:r>
            <a:br/>
            <a:r>
              <a:t>Approval Queue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2103120"/>
            <a:ext cx="54864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3931920" y="1828800"/>
            <a:ext cx="22860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F97316"/>
                </a:solidFill>
              </a:defRPr>
            </a:pPr>
            <a:r>
              <a:t>Human Reviews</a:t>
            </a:r>
            <a:br/>
            <a:r>
              <a:t>Order Detail</a:t>
            </a:r>
          </a:p>
        </p:txBody>
      </p:sp>
      <p:sp>
        <p:nvSpPr>
          <p:cNvPr id="7" name="Right Arrow 6"/>
          <p:cNvSpPr/>
          <p:nvPr/>
        </p:nvSpPr>
        <p:spPr>
          <a:xfrm>
            <a:off x="6400800" y="2103120"/>
            <a:ext cx="54864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132320" y="1828800"/>
            <a:ext cx="22860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C55E"/>
                </a:solidFill>
              </a:defRPr>
            </a:pPr>
            <a:r>
              <a:t>Approve</a:t>
            </a:r>
            <a:br/>
            <a:r>
              <a:t>Confirm</a:t>
            </a:r>
          </a:p>
        </p:txBody>
      </p:sp>
      <p:sp>
        <p:nvSpPr>
          <p:cNvPr id="9" name="Right Arrow 8"/>
          <p:cNvSpPr/>
          <p:nvPr/>
        </p:nvSpPr>
        <p:spPr>
          <a:xfrm>
            <a:off x="9601200" y="2103120"/>
            <a:ext cx="548640" cy="365760"/>
          </a:xfrm>
          <a:prstGeom prst="rightArrow">
            <a:avLst/>
          </a:prstGeom>
          <a:solidFill>
            <a:srgbClr val="52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332720" y="1828800"/>
            <a:ext cx="1371600" cy="9144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>
                <a:solidFill>
                  <a:srgbClr val="22C55E"/>
                </a:solidFill>
              </a:defRPr>
            </a:pPr>
            <a:r>
              <a:t>Status:</a:t>
            </a:r>
            <a:br/>
            <a:r>
              <a:t>approved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00400"/>
            <a:ext cx="10698480" cy="27432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A2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5F5F5"/>
                </a:solidFill>
              </a:defRPr>
            </a:pPr>
            <a:r>
              <a:t>What Human Sees in Dashboard: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9319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• Order details: product, SKU, quantity, price</a:t>
            </a:r>
            <a:br/>
            <a:r>
              <a:t>• Stock information</a:t>
            </a:r>
            <a:br/>
            <a:r>
              <a:t>• Audit trail</a:t>
            </a:r>
            <a:br/>
            <a:r>
              <a:t>• Approve / Reject buttons</a:t>
            </a:r>
            <a:br/>
            <a:r>
              <a:t>• Confirmation dialog with consequences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Real Effect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Stock transition after approval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828800"/>
            <a:ext cx="2743200" cy="18288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>
                <a:solidFill>
                  <a:srgbClr val="22C55E"/>
                </a:solidFill>
              </a:defRPr>
            </a:pPr>
            <a:r>
              <a:t>Stock Before</a:t>
            </a:r>
            <a:br/>
            <a:br/>
            <a:r>
              <a:t>5</a:t>
            </a:r>
          </a:p>
        </p:txBody>
      </p:sp>
      <p:sp>
        <p:nvSpPr>
          <p:cNvPr id="5" name="Right Arrow 4"/>
          <p:cNvSpPr/>
          <p:nvPr/>
        </p:nvSpPr>
        <p:spPr>
          <a:xfrm>
            <a:off x="4389120" y="2468880"/>
            <a:ext cx="914400" cy="548640"/>
          </a:xfrm>
          <a:prstGeom prst="rightArrow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2743200" cy="18288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>
                <a:solidFill>
                  <a:srgbClr val="F97316"/>
                </a:solidFill>
              </a:defRPr>
            </a:pPr>
            <a:r>
              <a:t>Stock After</a:t>
            </a:r>
            <a:br/>
            <a:br/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114800"/>
            <a:ext cx="2743200" cy="13716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2C55E"/>
                </a:solidFill>
              </a:defRPr>
            </a:pPr>
            <a:r>
              <a:t>✓ Customer notified</a:t>
            </a:r>
            <a:br/>
            <a:r>
              <a:t>✓ Audit trail recorded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4114800"/>
            <a:ext cx="2743200" cy="13716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0" y="4297680"/>
            <a:ext cx="23774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97316"/>
                </a:solidFill>
              </a:defRPr>
            </a:pPr>
            <a:r>
              <a:t>✓ Transaction committed</a:t>
            </a:r>
            <a:br/>
            <a:r>
              <a:t>✓ Status: approved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Audit Trail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4 entries with clear actor attribution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548640" cy="5486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63040" y="1371600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3B82F6"/>
                </a:solidFill>
              </a:defRPr>
            </a:pPr>
            <a:r>
              <a:t>agent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371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3B82F6"/>
                </a:solidFill>
              </a:defRPr>
            </a:pPr>
            <a:r>
              <a:t>create_draft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3716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Order created as pending_approval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0320"/>
            <a:ext cx="548640" cy="548640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2560320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F97316"/>
                </a:solidFill>
              </a:defRPr>
            </a:pPr>
            <a:r>
              <a:t>human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256032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97316"/>
                </a:solidFill>
              </a:defRPr>
            </a:pPr>
            <a:r>
              <a:t>APPROVE_ORDER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56032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Human approves via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749039"/>
            <a:ext cx="548640" cy="5486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63040" y="3749039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22C55E"/>
                </a:solidFill>
              </a:defRPr>
            </a:pPr>
            <a:r>
              <a:t>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3749039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2C55E"/>
                </a:solidFill>
              </a:defRPr>
            </a:pPr>
            <a:r>
              <a:t>DEDUCT_STOCK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49039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Stock deducted: 5 → 4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48640" cy="548640"/>
          </a:xfrm>
          <a:prstGeom prst="round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>
                <a:solidFill>
                  <a:srgbClr val="0A0A0A"/>
                </a:solidFill>
              </a:defRPr>
            </a:pPr>
            <a:r>
              <a:t>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63040" y="4937760"/>
            <a:ext cx="1097280" cy="54864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14B8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4B8A6"/>
                </a:solidFill>
              </a:defRPr>
            </a:pPr>
            <a:r>
              <a:t>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493776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4B8A6"/>
                </a:solidFill>
              </a:defRPr>
            </a:pPr>
            <a:r>
              <a:t>NOTIFY_CUSTOMER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93776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D4D4D4"/>
                </a:solidFill>
              </a:defRPr>
            </a:pPr>
            <a:r>
              <a:t>Customer notified via WhatsApp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5F5F5"/>
                </a:solidFill>
              </a:defRPr>
            </a:pPr>
            <a:r>
              <a:t>Attack the Boundary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A3A3A3"/>
                </a:solidFill>
              </a:defRPr>
            </a:pPr>
            <a:r>
              <a:t>Try to approve order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Available Tools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2C55E"/>
                </a:solidFill>
              </a:defRPr>
            </a:pPr>
            <a:r>
              <a:t>✓ search_catalog</a:t>
            </a:r>
            <a:br/>
            <a:r>
              <a:t>✓ check_inventory</a:t>
            </a:r>
            <a:br/>
            <a:r>
              <a:t>✓ calculate_order_total</a:t>
            </a:r>
            <a:br/>
            <a:r>
              <a:t>✓ create_order_draft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645920"/>
            <a:ext cx="5029200" cy="2286000"/>
          </a:xfrm>
          <a:prstGeom prst="roundRect">
            <a:avLst/>
          </a:prstGeom>
          <a:solidFill>
            <a:srgbClr val="141414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F4444"/>
                </a:solidFill>
              </a:defRPr>
            </a:pPr>
            <a:r>
              <a:t>Not Available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7744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</a:defRPr>
            </a:pPr>
            <a:r>
              <a:t>✗ approve_order</a:t>
            </a:r>
            <a:br/>
            <a:r>
              <a:t>✗ reject_order</a:t>
            </a:r>
            <a:br/>
            <a:r>
              <a:t>✗ deduct_stock</a:t>
            </a:r>
            <a:br/>
            <a:r>
              <a:t>✗ send_customer_message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389120"/>
            <a:ext cx="10698480" cy="1371600"/>
          </a:xfrm>
          <a:prstGeom prst="roundRect">
            <a:avLst/>
          </a:prstGeom>
          <a:solidFill>
            <a:srgbClr val="1A1A1A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59E0B"/>
                </a:solidFill>
              </a:defRPr>
            </a:pPr>
            <a:r>
              <a:t>"Bukan karena prompt-nya melarang agent.</a:t>
            </a:r>
            <a:br/>
            <a:r>
              <a:t>Tool-nya memang not available."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5F5F5"/>
                </a:solidFill>
              </a:defRPr>
            </a:pPr>
            <a:r>
              <a:t>TUNTASUMKM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474720"/>
            <a:ext cx="10698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A3A3A3"/>
                </a:solidFill>
              </a:defRPr>
            </a:pPr>
            <a:r>
              <a:t>Build Agent, Deliver Impact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