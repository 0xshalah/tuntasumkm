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Masalahnya bukan AI bisa membuat order. Masalahnya adalah: berapa banyak akses yang seharusnya kita berikan ke AI sebelum AI bisa menghabiskan uang, mengubah stok, atau mengirim sesuatu ke customer?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TuntasUMKM adalah AI-assisted order management, bukan AI-autonomous. AI Agent menerima intent customer, mencari produk, membuat draft order. Manusia memegang transaction gate. Backend menjalankan side effects. Semua diaudit.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arsitektur TuntasUMKM. Customer mengirim pesan. Hermes Agent menerima intent. Agent menggunakan bounded business tools untuk mencari produk dan membuat draft. Agent TIDAK punya tool untuk approve, reject, deduct stock, atau send message. Authority boundary berasal dari capability access, bukan prompt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mengirim pesan: Saya mau pesan Sarung Tenun Samarinda 1 pcs. Agent menerima intent ini dan mulai bekerja.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memanggil tools secara sequential. Perhatikan output terakhir: bukan approved order. Agent berhenti di draft.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 sini AI berhenti. Status: pending_approval. Tidak ada stock deduction. Tidak ada transaksi final. Order menunggu persetujuan manusia.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sini keputusan transaksional berpindah ke manusia. Agent tidak memiliki capability untuk melakukan approval.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Setelah human approval, backend menjalankan transaction effects. Stock: 5 → 4. Customer notified. Audit trail tercatat.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entry audit trail. Setiap action tercatat dengan actor yang jelas. Entry 1: agent create_draft. Entry 2: human APPROVE_ORDER. Entry 3: agent DEDUCT_STOCK. Entry 4: agent NOTIFY_CUSTOMER.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Bukan karena prompt-nya melarang agent. Tool-nya memang tidak tersedia. Coba minta agent approve order. Agent gagal karena capability-nya memang tidak 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TuntasUMKM tidak mencoba membuat AI melakukan semuanya. Kami membuat AI melakukan hal yang tepat, dan berhenti di tempat yang tepat. Build Agent, Deliver Impact.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1828800"/>
            <a:ext cx="10698480" cy="1371600"/>
          </a:xfrm>
          <a:prstGeom prst="rect">
            <a:avLst/>
          </a:prstGeom>
          <a:noFill/>
        </p:spPr>
        <p:txBody>
          <a:bodyPr wrap="square">
            <a:spAutoFit/>
          </a:bodyPr>
          <a:lstStyle/>
          <a:p>
            <a:pPr algn="ctr">
              <a:defRPr sz="7200" b="1">
                <a:solidFill>
                  <a:srgbClr val="F5F5F5"/>
                </a:solidFill>
              </a:defRPr>
            </a:pPr>
            <a:r>
              <a:t>TUNTASUMKM</a:t>
            </a:r>
          </a:p>
        </p:txBody>
      </p:sp>
      <p:sp>
        <p:nvSpPr>
          <p:cNvPr id="3" name="TextBox 2"/>
          <p:cNvSpPr txBox="1"/>
          <p:nvPr/>
        </p:nvSpPr>
        <p:spPr>
          <a:xfrm>
            <a:off x="731520" y="3474720"/>
            <a:ext cx="10698480" cy="1828800"/>
          </a:xfrm>
          <a:prstGeom prst="rect">
            <a:avLst/>
          </a:prstGeom>
          <a:noFill/>
        </p:spPr>
        <p:txBody>
          <a:bodyPr wrap="square">
            <a:spAutoFit/>
          </a:bodyPr>
          <a:lstStyle/>
          <a:p>
            <a:pPr algn="ctr">
              <a:defRPr sz="2800" b="0">
                <a:solidFill>
                  <a:srgbClr val="A3A3A3"/>
                </a:solidFill>
              </a:defRPr>
            </a:pPr>
            <a:r>
              <a:t>AI Agent-assisted order management for UMKM</a:t>
            </a:r>
            <a:br/>
            <a:r>
              <a:t>with bounded authority and Human-in-the-Loop approval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Solution: AI-Assisted, Not AI-Autonomous</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TuntasUMKM positioning</a:t>
            </a:r>
          </a:p>
        </p:txBody>
      </p:sp>
      <p:sp>
        <p:nvSpPr>
          <p:cNvPr id="4" name="Rounded Rectangle 3"/>
          <p:cNvSpPr/>
          <p:nvPr/>
        </p:nvSpPr>
        <p:spPr>
          <a:xfrm>
            <a:off x="731520" y="1645920"/>
            <a:ext cx="5029200" cy="457200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572000" cy="457200"/>
          </a:xfrm>
          <a:prstGeom prst="rect">
            <a:avLst/>
          </a:prstGeom>
          <a:noFill/>
        </p:spPr>
        <p:txBody>
          <a:bodyPr wrap="square">
            <a:spAutoFit/>
          </a:bodyPr>
          <a:lstStyle/>
          <a:p>
            <a:pPr algn="l">
              <a:defRPr sz="2000" b="1">
                <a:solidFill>
                  <a:srgbClr val="22C55E"/>
                </a:solidFill>
              </a:defRPr>
            </a:pPr>
            <a:r>
              <a:t>AI-Assisted (TuntasUMKM)</a:t>
            </a:r>
          </a:p>
        </p:txBody>
      </p:sp>
      <p:sp>
        <p:nvSpPr>
          <p:cNvPr id="6" name="TextBox 5"/>
          <p:cNvSpPr txBox="1"/>
          <p:nvPr/>
        </p:nvSpPr>
        <p:spPr>
          <a:xfrm>
            <a:off x="914400" y="2377440"/>
            <a:ext cx="4572000" cy="3200400"/>
          </a:xfrm>
          <a:prstGeom prst="rect">
            <a:avLst/>
          </a:prstGeom>
          <a:noFill/>
        </p:spPr>
        <p:txBody>
          <a:bodyPr wrap="square">
            <a:spAutoFit/>
          </a:bodyPr>
          <a:lstStyle/>
          <a:p>
            <a:pPr algn="l">
              <a:defRPr sz="1600" b="0">
                <a:solidFill>
                  <a:srgbClr val="22C55E"/>
                </a:solidFill>
              </a:defRPr>
            </a:pPr>
            <a:r>
              <a:t>✓ AI searches products</a:t>
            </a:r>
            <a:br/>
            <a:r>
              <a:t>✓ AI creates draft order</a:t>
            </a:r>
            <a:br/>
            <a:r>
              <a:t>✓ Human approves transaction</a:t>
            </a:r>
            <a:br/>
            <a:r>
              <a:t>✓ Backend executes effects</a:t>
            </a:r>
            <a:br/>
            <a:r>
              <a:t>✓ Full audit trail</a:t>
            </a:r>
            <a:br/>
            <a:br/>
            <a:r>
              <a:t>AI has bounded authority.</a:t>
            </a:r>
            <a:br/>
            <a:r>
              <a:t>Human holds the gate.</a:t>
            </a:r>
          </a:p>
        </p:txBody>
      </p:sp>
      <p:sp>
        <p:nvSpPr>
          <p:cNvPr id="7" name="Rounded Rectangle 6"/>
          <p:cNvSpPr/>
          <p:nvPr/>
        </p:nvSpPr>
        <p:spPr>
          <a:xfrm>
            <a:off x="6400800" y="1645920"/>
            <a:ext cx="5029200" cy="4572000"/>
          </a:xfrm>
          <a:prstGeom prst="roundRect">
            <a:avLst/>
          </a:prstGeom>
          <a:solidFill>
            <a:srgbClr val="14141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57200"/>
          </a:xfrm>
          <a:prstGeom prst="rect">
            <a:avLst/>
          </a:prstGeom>
          <a:noFill/>
        </p:spPr>
        <p:txBody>
          <a:bodyPr wrap="square">
            <a:spAutoFit/>
          </a:bodyPr>
          <a:lstStyle/>
          <a:p>
            <a:pPr algn="l">
              <a:defRPr sz="2000" b="1">
                <a:solidFill>
                  <a:srgbClr val="EF4444"/>
                </a:solidFill>
              </a:defRPr>
            </a:pPr>
            <a:r>
              <a:t>AI-Autonomous (Dangerous)</a:t>
            </a:r>
          </a:p>
        </p:txBody>
      </p:sp>
      <p:sp>
        <p:nvSpPr>
          <p:cNvPr id="9" name="TextBox 8"/>
          <p:cNvSpPr txBox="1"/>
          <p:nvPr/>
        </p:nvSpPr>
        <p:spPr>
          <a:xfrm>
            <a:off x="6583680" y="2377440"/>
            <a:ext cx="4572000" cy="3200400"/>
          </a:xfrm>
          <a:prstGeom prst="rect">
            <a:avLst/>
          </a:prstGeom>
          <a:noFill/>
        </p:spPr>
        <p:txBody>
          <a:bodyPr wrap="square">
            <a:spAutoFit/>
          </a:bodyPr>
          <a:lstStyle/>
          <a:p>
            <a:pPr algn="l">
              <a:defRPr sz="1600" b="0">
                <a:solidFill>
                  <a:srgbClr val="EF4444"/>
                </a:solidFill>
              </a:defRPr>
            </a:pPr>
            <a:r>
              <a:t>✗ AI approves own orders</a:t>
            </a:r>
            <a:br/>
            <a:r>
              <a:t>✗ AI deducts stock directly</a:t>
            </a:r>
            <a:br/>
            <a:r>
              <a:t>✗ AI sends messages directly</a:t>
            </a:r>
            <a:br/>
            <a:r>
              <a:t>✗ No human oversight</a:t>
            </a:r>
            <a:br/>
            <a:r>
              <a:t>✗ No audit trail</a:t>
            </a:r>
            <a:br/>
            <a:br/>
            <a:r>
              <a:t>AI has full authority.</a:t>
            </a:r>
            <a:br/>
            <a:r>
              <a:t>No human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Architecture: Authority Boundary</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Capability-based boundary, not prompt-based</a:t>
            </a:r>
          </a:p>
        </p:txBody>
      </p:sp>
      <p:sp>
        <p:nvSpPr>
          <p:cNvPr id="4" name="Rounded Rectangle 3"/>
          <p:cNvSpPr/>
          <p:nvPr/>
        </p:nvSpPr>
        <p:spPr>
          <a:xfrm>
            <a:off x="1371600" y="1828800"/>
            <a:ext cx="1828800" cy="548640"/>
          </a:xfrm>
          <a:prstGeom prst="roundRect">
            <a:avLst/>
          </a:prstGeom>
          <a:solidFill>
            <a:srgbClr val="1A1A1A"/>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94A3B8"/>
                </a:solidFill>
              </a:defRPr>
            </a:pPr>
            <a:r>
              <a:t>Customer</a:t>
            </a:r>
          </a:p>
        </p:txBody>
      </p:sp>
      <p:sp>
        <p:nvSpPr>
          <p:cNvPr id="5" name="Down Arrow 4"/>
          <p:cNvSpPr/>
          <p:nvPr/>
        </p:nvSpPr>
        <p:spPr>
          <a:xfrm>
            <a:off x="2148840" y="2377440"/>
            <a:ext cx="274320" cy="320040"/>
          </a:xfrm>
          <a:prstGeom prst="down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2697480"/>
            <a:ext cx="1828800" cy="54864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B82F6"/>
                </a:solidFill>
              </a:defRPr>
            </a:pPr>
            <a:r>
              <a:t>Hermes Agent</a:t>
            </a:r>
          </a:p>
        </p:txBody>
      </p:sp>
      <p:sp>
        <p:nvSpPr>
          <p:cNvPr id="7" name="Down Arrow 6"/>
          <p:cNvSpPr/>
          <p:nvPr/>
        </p:nvSpPr>
        <p:spPr>
          <a:xfrm>
            <a:off x="2148840" y="3246120"/>
            <a:ext cx="274320" cy="320040"/>
          </a:xfrm>
          <a:prstGeom prst="down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3566160"/>
            <a:ext cx="1828800" cy="548640"/>
          </a:xfrm>
          <a:prstGeom prst="roundRect">
            <a:avLst/>
          </a:prstGeom>
          <a:solidFill>
            <a:srgbClr val="1A1A1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8B5CF6"/>
                </a:solidFill>
              </a:defRPr>
            </a:pPr>
            <a:r>
              <a:t>MCP Tools</a:t>
            </a:r>
          </a:p>
        </p:txBody>
      </p:sp>
      <p:sp>
        <p:nvSpPr>
          <p:cNvPr id="9" name="Down Arrow 8"/>
          <p:cNvSpPr/>
          <p:nvPr/>
        </p:nvSpPr>
        <p:spPr>
          <a:xfrm>
            <a:off x="2148840" y="4114800"/>
            <a:ext cx="274320" cy="320040"/>
          </a:xfrm>
          <a:prstGeom prst="down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371600" y="4434840"/>
            <a:ext cx="1828800" cy="548640"/>
          </a:xfrm>
          <a:prstGeom prst="roundRect">
            <a:avLst/>
          </a:prstGeom>
          <a:solidFill>
            <a:srgbClr val="1A1A1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59E0B"/>
                </a:solidFill>
              </a:defRPr>
            </a:pPr>
            <a:r>
              <a:t>Order Draft</a:t>
            </a:r>
          </a:p>
        </p:txBody>
      </p:sp>
      <p:sp>
        <p:nvSpPr>
          <p:cNvPr id="11" name="Down Arrow 10"/>
          <p:cNvSpPr/>
          <p:nvPr/>
        </p:nvSpPr>
        <p:spPr>
          <a:xfrm>
            <a:off x="2148840" y="4983480"/>
            <a:ext cx="274320" cy="320040"/>
          </a:xfrm>
          <a:prstGeom prst="down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5303520"/>
            <a:ext cx="1828800" cy="54864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97316"/>
                </a:solidFill>
              </a:defRPr>
            </a:pPr>
            <a:r>
              <a:t>Human Approval</a:t>
            </a:r>
          </a:p>
        </p:txBody>
      </p:sp>
      <p:sp>
        <p:nvSpPr>
          <p:cNvPr id="13" name="Rounded Rectangle 12"/>
          <p:cNvSpPr/>
          <p:nvPr/>
        </p:nvSpPr>
        <p:spPr>
          <a:xfrm>
            <a:off x="4572000" y="1828800"/>
            <a:ext cx="6858000" cy="2011680"/>
          </a:xfrm>
          <a:prstGeom prst="roundRect">
            <a:avLst/>
          </a:prstGeom>
          <a:solidFill>
            <a:srgbClr val="141414"/>
          </a:solidFill>
          <a:ln w="190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2011680"/>
            <a:ext cx="6309360" cy="365760"/>
          </a:xfrm>
          <a:prstGeom prst="rect">
            <a:avLst/>
          </a:prstGeom>
          <a:noFill/>
        </p:spPr>
        <p:txBody>
          <a:bodyPr wrap="square">
            <a:spAutoFit/>
          </a:bodyPr>
          <a:lstStyle/>
          <a:p>
            <a:pPr algn="l">
              <a:defRPr sz="1600" b="1">
                <a:solidFill>
                  <a:srgbClr val="22C55E"/>
                </a:solidFill>
              </a:defRPr>
            </a:pPr>
            <a:r>
              <a:t>Available to Agent</a:t>
            </a:r>
          </a:p>
        </p:txBody>
      </p:sp>
      <p:sp>
        <p:nvSpPr>
          <p:cNvPr id="15" name="TextBox 14"/>
          <p:cNvSpPr txBox="1"/>
          <p:nvPr/>
        </p:nvSpPr>
        <p:spPr>
          <a:xfrm>
            <a:off x="4846320" y="2468880"/>
            <a:ext cx="6309360" cy="1280160"/>
          </a:xfrm>
          <a:prstGeom prst="rect">
            <a:avLst/>
          </a:prstGeom>
          <a:noFill/>
        </p:spPr>
        <p:txBody>
          <a:bodyPr wrap="square">
            <a:spAutoFit/>
          </a:bodyPr>
          <a:lstStyle/>
          <a:p>
            <a:pPr algn="l">
              <a:defRPr sz="1600" b="0">
                <a:solidFill>
                  <a:srgbClr val="22C55E"/>
                </a:solidFill>
              </a:defRPr>
            </a:pPr>
            <a:r>
              <a:t>✓ search_catalog</a:t>
            </a:r>
            <a:br/>
            <a:r>
              <a:t>✓ check_inventory</a:t>
            </a:r>
            <a:br/>
            <a:r>
              <a:t>✓ calculate_order_total</a:t>
            </a:r>
            <a:br/>
            <a:r>
              <a:t>✓ create_order_draft</a:t>
            </a:r>
          </a:p>
        </p:txBody>
      </p:sp>
      <p:sp>
        <p:nvSpPr>
          <p:cNvPr id="16" name="Rounded Rectangle 15"/>
          <p:cNvSpPr/>
          <p:nvPr/>
        </p:nvSpPr>
        <p:spPr>
          <a:xfrm>
            <a:off x="4572000" y="4114800"/>
            <a:ext cx="6858000" cy="2011680"/>
          </a:xfrm>
          <a:prstGeom prst="roundRect">
            <a:avLst/>
          </a:prstGeom>
          <a:solidFill>
            <a:srgbClr val="141414"/>
          </a:solidFill>
          <a:ln w="190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4297680"/>
            <a:ext cx="6309360" cy="365760"/>
          </a:xfrm>
          <a:prstGeom prst="rect">
            <a:avLst/>
          </a:prstGeom>
          <a:noFill/>
        </p:spPr>
        <p:txBody>
          <a:bodyPr wrap="square">
            <a:spAutoFit/>
          </a:bodyPr>
          <a:lstStyle/>
          <a:p>
            <a:pPr algn="l">
              <a:defRPr sz="1600" b="1">
                <a:solidFill>
                  <a:srgbClr val="EF4444"/>
                </a:solidFill>
              </a:defRPr>
            </a:pPr>
            <a:r>
              <a:t>Not Available to Agent</a:t>
            </a:r>
          </a:p>
        </p:txBody>
      </p:sp>
      <p:sp>
        <p:nvSpPr>
          <p:cNvPr id="18" name="TextBox 17"/>
          <p:cNvSpPr txBox="1"/>
          <p:nvPr/>
        </p:nvSpPr>
        <p:spPr>
          <a:xfrm>
            <a:off x="4846320" y="4754880"/>
            <a:ext cx="6309360" cy="1280160"/>
          </a:xfrm>
          <a:prstGeom prst="rect">
            <a:avLst/>
          </a:prstGeom>
          <a:noFill/>
        </p:spPr>
        <p:txBody>
          <a:bodyPr wrap="square">
            <a:spAutoFit/>
          </a:bodyPr>
          <a:lstStyle/>
          <a:p>
            <a:pPr algn="l">
              <a:defRPr sz="1600" b="0">
                <a:solidFill>
                  <a:srgbClr val="EF4444"/>
                </a:solidFill>
              </a:defRPr>
            </a:pPr>
            <a:r>
              <a:t>✗ approve_order</a:t>
            </a:r>
            <a:br/>
            <a:r>
              <a:t>✗ reject_order</a:t>
            </a:r>
            <a:br/>
            <a:r>
              <a:t>✗ deduct_stock</a:t>
            </a:r>
            <a:br/>
            <a:r>
              <a:t>✗ send_customer_message</a:t>
            </a:r>
          </a:p>
        </p:txBody>
      </p:sp>
      <p:sp>
        <p:nvSpPr>
          <p:cNvPr id="19" name="Rounded Rectangle 18"/>
          <p:cNvSpPr/>
          <p:nvPr/>
        </p:nvSpPr>
        <p:spPr>
          <a:xfrm>
            <a:off x="1371600" y="6400800"/>
            <a:ext cx="1828800" cy="54864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22C55E"/>
                </a:solidFill>
              </a:defRPr>
            </a:pPr>
            <a:r>
              <a:t>Backend</a:t>
            </a:r>
          </a:p>
        </p:txBody>
      </p:sp>
      <p:sp>
        <p:nvSpPr>
          <p:cNvPr id="20" name="Rounded Rectangle 19"/>
          <p:cNvSpPr/>
          <p:nvPr/>
        </p:nvSpPr>
        <p:spPr>
          <a:xfrm>
            <a:off x="3657600" y="6400800"/>
            <a:ext cx="1828800" cy="548640"/>
          </a:xfrm>
          <a:prstGeom prst="roundRect">
            <a:avLst/>
          </a:prstGeom>
          <a:solidFill>
            <a:srgbClr val="1A1A1A"/>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64748B"/>
                </a:solidFill>
              </a:defRPr>
            </a:pPr>
            <a:r>
              <a:t>Audit Trail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User Intent</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Customer message</a:t>
            </a:r>
          </a:p>
        </p:txBody>
      </p:sp>
      <p:sp>
        <p:nvSpPr>
          <p:cNvPr id="4" name="Rounded Rectangle 3"/>
          <p:cNvSpPr/>
          <p:nvPr/>
        </p:nvSpPr>
        <p:spPr>
          <a:xfrm>
            <a:off x="1828800" y="2286000"/>
            <a:ext cx="8229600" cy="1828800"/>
          </a:xfrm>
          <a:prstGeom prst="roundRect">
            <a:avLst/>
          </a:prstGeom>
          <a:solidFill>
            <a:srgbClr val="141414"/>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2560320"/>
            <a:ext cx="7315200" cy="457200"/>
          </a:xfrm>
          <a:prstGeom prst="rect">
            <a:avLst/>
          </a:prstGeom>
          <a:noFill/>
        </p:spPr>
        <p:txBody>
          <a:bodyPr wrap="square">
            <a:spAutoFit/>
          </a:bodyPr>
          <a:lstStyle/>
          <a:p>
            <a:pPr algn="l">
              <a:defRPr sz="1600" b="1">
                <a:solidFill>
                  <a:srgbClr val="3B82F6"/>
                </a:solidFill>
              </a:defRPr>
            </a:pPr>
            <a:r>
              <a:t>Customer says:</a:t>
            </a:r>
          </a:p>
        </p:txBody>
      </p:sp>
      <p:sp>
        <p:nvSpPr>
          <p:cNvPr id="6" name="TextBox 5"/>
          <p:cNvSpPr txBox="1"/>
          <p:nvPr/>
        </p:nvSpPr>
        <p:spPr>
          <a:xfrm>
            <a:off x="2286000" y="3017520"/>
            <a:ext cx="7315200" cy="914400"/>
          </a:xfrm>
          <a:prstGeom prst="rect">
            <a:avLst/>
          </a:prstGeom>
          <a:noFill/>
        </p:spPr>
        <p:txBody>
          <a:bodyPr wrap="square">
            <a:spAutoFit/>
          </a:bodyPr>
          <a:lstStyle/>
          <a:p>
            <a:pPr algn="l">
              <a:defRPr sz="3200" b="1">
                <a:solidFill>
                  <a:srgbClr val="F5F5F5"/>
                </a:solidFill>
              </a:defRPr>
            </a:pPr>
            <a:r>
              <a:t>"Saya mau pesan Sarung Tenun Samarinda 1 pcs"</a:t>
            </a:r>
          </a:p>
        </p:txBody>
      </p:sp>
      <p:sp>
        <p:nvSpPr>
          <p:cNvPr id="7" name="Down Arrow 6"/>
          <p:cNvSpPr/>
          <p:nvPr/>
        </p:nvSpPr>
        <p:spPr>
          <a:xfrm>
            <a:off x="5760720" y="4297680"/>
            <a:ext cx="274320" cy="457200"/>
          </a:xfrm>
          <a:prstGeom prst="down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5029200"/>
            <a:ext cx="8229600" cy="91440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3B82F6"/>
                </a:solidFill>
              </a:defRPr>
            </a:pPr>
            <a:r>
              <a:t>Hermes Agent receives intent and starts working...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Agent Execution</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Sequential tool calls</a:t>
            </a:r>
          </a:p>
        </p:txBody>
      </p:sp>
      <p:sp>
        <p:nvSpPr>
          <p:cNvPr id="4" name="Rounded Rectangle 3"/>
          <p:cNvSpPr/>
          <p:nvPr/>
        </p:nvSpPr>
        <p:spPr>
          <a:xfrm>
            <a:off x="3200400" y="1645920"/>
            <a:ext cx="5486400" cy="548640"/>
          </a:xfrm>
          <a:prstGeom prst="roundRect">
            <a:avLst/>
          </a:prstGeom>
          <a:solidFill>
            <a:srgbClr val="1A1A1A"/>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94A3B8"/>
                </a:solidFill>
              </a:defRPr>
            </a:pPr>
            <a:r>
              <a:t>USER INTENT</a:t>
            </a:r>
          </a:p>
        </p:txBody>
      </p:sp>
      <p:sp>
        <p:nvSpPr>
          <p:cNvPr id="5" name="Down Arrow 4"/>
          <p:cNvSpPr/>
          <p:nvPr/>
        </p:nvSpPr>
        <p:spPr>
          <a:xfrm>
            <a:off x="5760720" y="2194560"/>
            <a:ext cx="274320" cy="2286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2423160"/>
            <a:ext cx="548640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search_catalog</a:t>
            </a:r>
          </a:p>
        </p:txBody>
      </p:sp>
      <p:sp>
        <p:nvSpPr>
          <p:cNvPr id="7" name="Down Arrow 6"/>
          <p:cNvSpPr/>
          <p:nvPr/>
        </p:nvSpPr>
        <p:spPr>
          <a:xfrm>
            <a:off x="5760720" y="2971800"/>
            <a:ext cx="274320" cy="228600"/>
          </a:xfrm>
          <a:prstGeom prst="down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200400" y="3200400"/>
            <a:ext cx="548640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check_inventory</a:t>
            </a:r>
          </a:p>
        </p:txBody>
      </p:sp>
      <p:sp>
        <p:nvSpPr>
          <p:cNvPr id="9" name="Down Arrow 8"/>
          <p:cNvSpPr/>
          <p:nvPr/>
        </p:nvSpPr>
        <p:spPr>
          <a:xfrm>
            <a:off x="5760720" y="3749039"/>
            <a:ext cx="274320" cy="228600"/>
          </a:xfrm>
          <a:prstGeom prst="down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00400" y="3977639"/>
            <a:ext cx="548640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calculate_order_total</a:t>
            </a:r>
          </a:p>
        </p:txBody>
      </p:sp>
      <p:sp>
        <p:nvSpPr>
          <p:cNvPr id="11" name="Down Arrow 10"/>
          <p:cNvSpPr/>
          <p:nvPr/>
        </p:nvSpPr>
        <p:spPr>
          <a:xfrm>
            <a:off x="5760720" y="4526279"/>
            <a:ext cx="274320" cy="228600"/>
          </a:xfrm>
          <a:prstGeom prst="down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00400" y="4754880"/>
            <a:ext cx="5486400" cy="548640"/>
          </a:xfrm>
          <a:prstGeom prst="roundRect">
            <a:avLst/>
          </a:prstGeom>
          <a:solidFill>
            <a:srgbClr val="1A1A1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59E0B"/>
                </a:solidFill>
              </a:defRPr>
            </a:pPr>
            <a:r>
              <a:t>create_order_draft</a:t>
            </a:r>
          </a:p>
        </p:txBody>
      </p:sp>
      <p:sp>
        <p:nvSpPr>
          <p:cNvPr id="13" name="Down Arrow 12"/>
          <p:cNvSpPr/>
          <p:nvPr/>
        </p:nvSpPr>
        <p:spPr>
          <a:xfrm>
            <a:off x="5760720" y="5303520"/>
            <a:ext cx="274320" cy="228600"/>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0400" y="5532120"/>
            <a:ext cx="5486400" cy="54864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97316"/>
                </a:solidFill>
              </a:defRPr>
            </a:pPr>
            <a:r>
              <a:t>PENDING APPROVAL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The Boundary</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Agent stops here</a:t>
            </a:r>
          </a:p>
        </p:txBody>
      </p:sp>
      <p:sp>
        <p:nvSpPr>
          <p:cNvPr id="4" name="Rounded Rectangle 3"/>
          <p:cNvSpPr/>
          <p:nvPr/>
        </p:nvSpPr>
        <p:spPr>
          <a:xfrm>
            <a:off x="2286000" y="1828800"/>
            <a:ext cx="7315200" cy="137160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a:solidFill>
                  <a:srgbClr val="F97316"/>
                </a:solidFill>
              </a:defRPr>
            </a:pPr>
            <a:r>
              <a:t>pending_approval</a:t>
            </a:r>
          </a:p>
        </p:txBody>
      </p:sp>
      <p:sp>
        <p:nvSpPr>
          <p:cNvPr id="5" name="Rounded Rectangle 4"/>
          <p:cNvSpPr/>
          <p:nvPr/>
        </p:nvSpPr>
        <p:spPr>
          <a:xfrm>
            <a:off x="2286000" y="3657600"/>
            <a:ext cx="7315200" cy="2286000"/>
          </a:xfrm>
          <a:prstGeom prst="roundRect">
            <a:avLst/>
          </a:prstGeom>
          <a:solidFill>
            <a:srgbClr val="141414"/>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0" y="3840480"/>
            <a:ext cx="6858000" cy="457200"/>
          </a:xfrm>
          <a:prstGeom prst="rect">
            <a:avLst/>
          </a:prstGeom>
          <a:noFill/>
        </p:spPr>
        <p:txBody>
          <a:bodyPr wrap="square">
            <a:spAutoFit/>
          </a:bodyPr>
          <a:lstStyle/>
          <a:p>
            <a:pPr algn="l">
              <a:defRPr sz="2400" b="1">
                <a:solidFill>
                  <a:srgbClr val="F97316"/>
                </a:solidFill>
              </a:defRPr>
            </a:pPr>
            <a:r>
              <a:t>Agent stops here</a:t>
            </a:r>
          </a:p>
        </p:txBody>
      </p:sp>
      <p:sp>
        <p:nvSpPr>
          <p:cNvPr id="7" name="TextBox 6"/>
          <p:cNvSpPr txBox="1"/>
          <p:nvPr/>
        </p:nvSpPr>
        <p:spPr>
          <a:xfrm>
            <a:off x="2560320" y="4389120"/>
            <a:ext cx="6858000" cy="1371600"/>
          </a:xfrm>
          <a:prstGeom prst="rect">
            <a:avLst/>
          </a:prstGeom>
          <a:noFill/>
        </p:spPr>
        <p:txBody>
          <a:bodyPr wrap="square">
            <a:spAutoFit/>
          </a:bodyPr>
          <a:lstStyle/>
          <a:p>
            <a:pPr algn="l">
              <a:defRPr sz="1800" b="0">
                <a:solidFill>
                  <a:srgbClr val="D4D4D4"/>
                </a:solidFill>
              </a:defRPr>
            </a:pPr>
            <a:r>
              <a:t>• No stock deduction</a:t>
            </a:r>
            <a:br/>
            <a:r>
              <a:t>• No transaction final</a:t>
            </a:r>
            <a:br/>
            <a:r>
              <a:t>• No customer notification</a:t>
            </a:r>
            <a:br/>
            <a:r>
              <a:t>• Order menunggu persetujuan manusia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Human Approval</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Transaction gate</a:t>
            </a:r>
          </a:p>
        </p:txBody>
      </p:sp>
      <p:sp>
        <p:nvSpPr>
          <p:cNvPr id="4" name="Rounded Rectangle 3"/>
          <p:cNvSpPr/>
          <p:nvPr/>
        </p:nvSpPr>
        <p:spPr>
          <a:xfrm>
            <a:off x="731520" y="1828800"/>
            <a:ext cx="2286000" cy="91440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B82F6"/>
                </a:solidFill>
              </a:defRPr>
            </a:pPr>
            <a:r>
              <a:t>Dashboard</a:t>
            </a:r>
            <a:br/>
            <a:r>
              <a:t>Approval Queue</a:t>
            </a:r>
          </a:p>
        </p:txBody>
      </p:sp>
      <p:sp>
        <p:nvSpPr>
          <p:cNvPr id="5" name="Right Arrow 4"/>
          <p:cNvSpPr/>
          <p:nvPr/>
        </p:nvSpPr>
        <p:spPr>
          <a:xfrm>
            <a:off x="3200400" y="2103120"/>
            <a:ext cx="548640" cy="36576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931920" y="1828800"/>
            <a:ext cx="2286000" cy="91440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97316"/>
                </a:solidFill>
              </a:defRPr>
            </a:pPr>
            <a:r>
              <a:t>Human Reviews</a:t>
            </a:r>
            <a:br/>
            <a:r>
              <a:t>Order Detail</a:t>
            </a:r>
          </a:p>
        </p:txBody>
      </p:sp>
      <p:sp>
        <p:nvSpPr>
          <p:cNvPr id="7" name="Right Arrow 6"/>
          <p:cNvSpPr/>
          <p:nvPr/>
        </p:nvSpPr>
        <p:spPr>
          <a:xfrm>
            <a:off x="6400800" y="2103120"/>
            <a:ext cx="548640" cy="36576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0" y="1828800"/>
            <a:ext cx="2286000" cy="91440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22C55E"/>
                </a:solidFill>
              </a:defRPr>
            </a:pPr>
            <a:r>
              <a:t>Approve</a:t>
            </a:r>
            <a:br/>
            <a:r>
              <a:t>Confirm</a:t>
            </a:r>
          </a:p>
        </p:txBody>
      </p:sp>
      <p:sp>
        <p:nvSpPr>
          <p:cNvPr id="9" name="Right Arrow 8"/>
          <p:cNvSpPr/>
          <p:nvPr/>
        </p:nvSpPr>
        <p:spPr>
          <a:xfrm>
            <a:off x="9601200" y="2103120"/>
            <a:ext cx="548640" cy="36576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332720" y="1828800"/>
            <a:ext cx="1371600" cy="91440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22C55E"/>
                </a:solidFill>
              </a:defRPr>
            </a:pPr>
            <a:r>
              <a:t>Status:</a:t>
            </a:r>
            <a:br/>
            <a:r>
              <a:t>approved</a:t>
            </a:r>
          </a:p>
        </p:txBody>
      </p:sp>
      <p:sp>
        <p:nvSpPr>
          <p:cNvPr id="11" name="Rounded Rectangle 10"/>
          <p:cNvSpPr/>
          <p:nvPr/>
        </p:nvSpPr>
        <p:spPr>
          <a:xfrm>
            <a:off x="731520" y="3200400"/>
            <a:ext cx="10698480" cy="2743200"/>
          </a:xfrm>
          <a:prstGeom prst="roundRect">
            <a:avLst/>
          </a:prstGeom>
          <a:solidFill>
            <a:srgbClr val="141414"/>
          </a:solidFill>
          <a:ln w="190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83280"/>
            <a:ext cx="10058400" cy="457200"/>
          </a:xfrm>
          <a:prstGeom prst="rect">
            <a:avLst/>
          </a:prstGeom>
          <a:noFill/>
        </p:spPr>
        <p:txBody>
          <a:bodyPr wrap="square">
            <a:spAutoFit/>
          </a:bodyPr>
          <a:lstStyle/>
          <a:p>
            <a:pPr algn="l">
              <a:defRPr sz="1800" b="1">
                <a:solidFill>
                  <a:srgbClr val="F5F5F5"/>
                </a:solidFill>
              </a:defRPr>
            </a:pPr>
            <a:r>
              <a:t>What Human Sees in Dashboard:</a:t>
            </a:r>
          </a:p>
        </p:txBody>
      </p:sp>
      <p:sp>
        <p:nvSpPr>
          <p:cNvPr id="13" name="TextBox 12"/>
          <p:cNvSpPr txBox="1"/>
          <p:nvPr/>
        </p:nvSpPr>
        <p:spPr>
          <a:xfrm>
            <a:off x="914400" y="3931920"/>
            <a:ext cx="10058400" cy="1828800"/>
          </a:xfrm>
          <a:prstGeom prst="rect">
            <a:avLst/>
          </a:prstGeom>
          <a:noFill/>
        </p:spPr>
        <p:txBody>
          <a:bodyPr wrap="square">
            <a:spAutoFit/>
          </a:bodyPr>
          <a:lstStyle/>
          <a:p>
            <a:pPr algn="l">
              <a:defRPr sz="1600" b="0">
                <a:solidFill>
                  <a:srgbClr val="D4D4D4"/>
                </a:solidFill>
              </a:defRPr>
            </a:pPr>
            <a:r>
              <a:t>• Order details: product, SKU, quantity, price</a:t>
            </a:r>
            <a:br/>
            <a:r>
              <a:t>• Stock information</a:t>
            </a:r>
            <a:br/>
            <a:r>
              <a:t>• Audit trail</a:t>
            </a:r>
            <a:br/>
            <a:r>
              <a:t>• Approve / Reject buttons</a:t>
            </a:r>
            <a:br/>
            <a:r>
              <a:t>• Confirmation dialog with consequences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Real Effect</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Stock transition after approval</a:t>
            </a:r>
          </a:p>
        </p:txBody>
      </p:sp>
      <p:sp>
        <p:nvSpPr>
          <p:cNvPr id="4" name="Rounded Rectangle 3"/>
          <p:cNvSpPr/>
          <p:nvPr/>
        </p:nvSpPr>
        <p:spPr>
          <a:xfrm>
            <a:off x="1371600" y="1828800"/>
            <a:ext cx="2743200" cy="182880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solidFill>
                  <a:srgbClr val="22C55E"/>
                </a:solidFill>
              </a:defRPr>
            </a:pPr>
            <a:r>
              <a:t>Stock Before</a:t>
            </a:r>
            <a:br/>
            <a:br/>
            <a:r>
              <a:t>5</a:t>
            </a:r>
          </a:p>
        </p:txBody>
      </p:sp>
      <p:sp>
        <p:nvSpPr>
          <p:cNvPr id="5" name="Right Arrow 4"/>
          <p:cNvSpPr/>
          <p:nvPr/>
        </p:nvSpPr>
        <p:spPr>
          <a:xfrm>
            <a:off x="4389120" y="2468880"/>
            <a:ext cx="914400" cy="54864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0" y="1828800"/>
            <a:ext cx="2743200" cy="182880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solidFill>
                  <a:srgbClr val="F97316"/>
                </a:solidFill>
              </a:defRPr>
            </a:pPr>
            <a:r>
              <a:t>Stock After</a:t>
            </a:r>
            <a:br/>
            <a:br/>
            <a:r>
              <a:t>4</a:t>
            </a:r>
          </a:p>
        </p:txBody>
      </p:sp>
      <p:sp>
        <p:nvSpPr>
          <p:cNvPr id="7" name="Rounded Rectangle 6"/>
          <p:cNvSpPr/>
          <p:nvPr/>
        </p:nvSpPr>
        <p:spPr>
          <a:xfrm>
            <a:off x="1371600" y="4114800"/>
            <a:ext cx="2743200" cy="137160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4297680"/>
            <a:ext cx="2377440" cy="914400"/>
          </a:xfrm>
          <a:prstGeom prst="rect">
            <a:avLst/>
          </a:prstGeom>
          <a:noFill/>
        </p:spPr>
        <p:txBody>
          <a:bodyPr wrap="square">
            <a:spAutoFit/>
          </a:bodyPr>
          <a:lstStyle/>
          <a:p>
            <a:pPr algn="l">
              <a:defRPr sz="1400" b="0">
                <a:solidFill>
                  <a:srgbClr val="22C55E"/>
                </a:solidFill>
              </a:defRPr>
            </a:pPr>
            <a:r>
              <a:t>✓ Customer notified</a:t>
            </a:r>
            <a:br/>
            <a:r>
              <a:t>✓ Audit trail recorded</a:t>
            </a:r>
          </a:p>
        </p:txBody>
      </p:sp>
      <p:sp>
        <p:nvSpPr>
          <p:cNvPr id="9" name="Rounded Rectangle 8"/>
          <p:cNvSpPr/>
          <p:nvPr/>
        </p:nvSpPr>
        <p:spPr>
          <a:xfrm>
            <a:off x="5486400" y="4114800"/>
            <a:ext cx="2743200" cy="1371600"/>
          </a:xfrm>
          <a:prstGeom prst="roundRect">
            <a:avLst/>
          </a:prstGeom>
          <a:solidFill>
            <a:srgbClr val="141414"/>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4297680"/>
            <a:ext cx="2377440" cy="914400"/>
          </a:xfrm>
          <a:prstGeom prst="rect">
            <a:avLst/>
          </a:prstGeom>
          <a:noFill/>
        </p:spPr>
        <p:txBody>
          <a:bodyPr wrap="square">
            <a:spAutoFit/>
          </a:bodyPr>
          <a:lstStyle/>
          <a:p>
            <a:pPr algn="l">
              <a:defRPr sz="1400" b="0">
                <a:solidFill>
                  <a:srgbClr val="F97316"/>
                </a:solidFill>
              </a:defRPr>
            </a:pPr>
            <a:r>
              <a:t>✓ Transaction committed</a:t>
            </a:r>
            <a:br/>
            <a:r>
              <a:t>✓ Status: approved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Audit Trail</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4 entries with clear actor attribution</a:t>
            </a:r>
          </a:p>
        </p:txBody>
      </p:sp>
      <p:sp>
        <p:nvSpPr>
          <p:cNvPr id="4" name="Rounded Rectangle 3"/>
          <p:cNvSpPr/>
          <p:nvPr/>
        </p:nvSpPr>
        <p:spPr>
          <a:xfrm>
            <a:off x="731520" y="1371600"/>
            <a:ext cx="548640" cy="5486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1</a:t>
            </a:r>
          </a:p>
        </p:txBody>
      </p:sp>
      <p:sp>
        <p:nvSpPr>
          <p:cNvPr id="5" name="Rounded Rectangle 4"/>
          <p:cNvSpPr/>
          <p:nvPr/>
        </p:nvSpPr>
        <p:spPr>
          <a:xfrm>
            <a:off x="1463040" y="1371600"/>
            <a:ext cx="1097280" cy="548640"/>
          </a:xfrm>
          <a:prstGeom prst="roundRect">
            <a:avLst/>
          </a:prstGeom>
          <a:solidFill>
            <a:srgbClr val="1A1A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3B82F6"/>
                </a:solidFill>
              </a:defRPr>
            </a:pPr>
            <a:r>
              <a:t>agent</a:t>
            </a:r>
          </a:p>
        </p:txBody>
      </p:sp>
      <p:sp>
        <p:nvSpPr>
          <p:cNvPr id="6" name="TextBox 5"/>
          <p:cNvSpPr txBox="1"/>
          <p:nvPr/>
        </p:nvSpPr>
        <p:spPr>
          <a:xfrm>
            <a:off x="2743200" y="1371600"/>
            <a:ext cx="2286000" cy="548640"/>
          </a:xfrm>
          <a:prstGeom prst="rect">
            <a:avLst/>
          </a:prstGeom>
          <a:noFill/>
        </p:spPr>
        <p:txBody>
          <a:bodyPr wrap="square">
            <a:spAutoFit/>
          </a:bodyPr>
          <a:lstStyle/>
          <a:p>
            <a:pPr algn="l">
              <a:defRPr sz="1600" b="1">
                <a:solidFill>
                  <a:srgbClr val="3B82F6"/>
                </a:solidFill>
              </a:defRPr>
            </a:pPr>
            <a:r>
              <a:t>create_draft</a:t>
            </a:r>
          </a:p>
        </p:txBody>
      </p:sp>
      <p:sp>
        <p:nvSpPr>
          <p:cNvPr id="7" name="TextBox 6"/>
          <p:cNvSpPr txBox="1"/>
          <p:nvPr/>
        </p:nvSpPr>
        <p:spPr>
          <a:xfrm>
            <a:off x="5029200" y="1371600"/>
            <a:ext cx="6400800" cy="548640"/>
          </a:xfrm>
          <a:prstGeom prst="rect">
            <a:avLst/>
          </a:prstGeom>
          <a:noFill/>
        </p:spPr>
        <p:txBody>
          <a:bodyPr wrap="square">
            <a:spAutoFit/>
          </a:bodyPr>
          <a:lstStyle/>
          <a:p>
            <a:pPr algn="l">
              <a:defRPr sz="1600" b="0">
                <a:solidFill>
                  <a:srgbClr val="D4D4D4"/>
                </a:solidFill>
              </a:defRPr>
            </a:pPr>
            <a:r>
              <a:t>Order created as pending_approval</a:t>
            </a:r>
          </a:p>
        </p:txBody>
      </p:sp>
      <p:sp>
        <p:nvSpPr>
          <p:cNvPr id="8" name="Rounded Rectangle 7"/>
          <p:cNvSpPr/>
          <p:nvPr/>
        </p:nvSpPr>
        <p:spPr>
          <a:xfrm>
            <a:off x="731520" y="2560320"/>
            <a:ext cx="548640" cy="548640"/>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2</a:t>
            </a:r>
          </a:p>
        </p:txBody>
      </p:sp>
      <p:sp>
        <p:nvSpPr>
          <p:cNvPr id="9" name="Rounded Rectangle 8"/>
          <p:cNvSpPr/>
          <p:nvPr/>
        </p:nvSpPr>
        <p:spPr>
          <a:xfrm>
            <a:off x="1463040" y="2560320"/>
            <a:ext cx="1097280" cy="548640"/>
          </a:xfrm>
          <a:prstGeom prst="roundRect">
            <a:avLst/>
          </a:prstGeom>
          <a:solidFill>
            <a:srgbClr val="1A1A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97316"/>
                </a:solidFill>
              </a:defRPr>
            </a:pPr>
            <a:r>
              <a:t>human</a:t>
            </a:r>
          </a:p>
        </p:txBody>
      </p:sp>
      <p:sp>
        <p:nvSpPr>
          <p:cNvPr id="10" name="TextBox 9"/>
          <p:cNvSpPr txBox="1"/>
          <p:nvPr/>
        </p:nvSpPr>
        <p:spPr>
          <a:xfrm>
            <a:off x="2743200" y="2560320"/>
            <a:ext cx="2286000" cy="548640"/>
          </a:xfrm>
          <a:prstGeom prst="rect">
            <a:avLst/>
          </a:prstGeom>
          <a:noFill/>
        </p:spPr>
        <p:txBody>
          <a:bodyPr wrap="square">
            <a:spAutoFit/>
          </a:bodyPr>
          <a:lstStyle/>
          <a:p>
            <a:pPr algn="l">
              <a:defRPr sz="1600" b="1">
                <a:solidFill>
                  <a:srgbClr val="F97316"/>
                </a:solidFill>
              </a:defRPr>
            </a:pPr>
            <a:r>
              <a:t>APPROVE_ORDER</a:t>
            </a:r>
          </a:p>
        </p:txBody>
      </p:sp>
      <p:sp>
        <p:nvSpPr>
          <p:cNvPr id="11" name="TextBox 10"/>
          <p:cNvSpPr txBox="1"/>
          <p:nvPr/>
        </p:nvSpPr>
        <p:spPr>
          <a:xfrm>
            <a:off x="5029200" y="2560320"/>
            <a:ext cx="6400800" cy="548640"/>
          </a:xfrm>
          <a:prstGeom prst="rect">
            <a:avLst/>
          </a:prstGeom>
          <a:noFill/>
        </p:spPr>
        <p:txBody>
          <a:bodyPr wrap="square">
            <a:spAutoFit/>
          </a:bodyPr>
          <a:lstStyle/>
          <a:p>
            <a:pPr algn="l">
              <a:defRPr sz="1600" b="0">
                <a:solidFill>
                  <a:srgbClr val="D4D4D4"/>
                </a:solidFill>
              </a:defRPr>
            </a:pPr>
            <a:r>
              <a:t>Human approves via UI</a:t>
            </a:r>
          </a:p>
        </p:txBody>
      </p:sp>
      <p:sp>
        <p:nvSpPr>
          <p:cNvPr id="12" name="Rounded Rectangle 11"/>
          <p:cNvSpPr/>
          <p:nvPr/>
        </p:nvSpPr>
        <p:spPr>
          <a:xfrm>
            <a:off x="731520" y="3749039"/>
            <a:ext cx="548640" cy="54864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3</a:t>
            </a:r>
          </a:p>
        </p:txBody>
      </p:sp>
      <p:sp>
        <p:nvSpPr>
          <p:cNvPr id="13" name="Rounded Rectangle 12"/>
          <p:cNvSpPr/>
          <p:nvPr/>
        </p:nvSpPr>
        <p:spPr>
          <a:xfrm>
            <a:off x="1463040" y="3749039"/>
            <a:ext cx="1097280" cy="548640"/>
          </a:xfrm>
          <a:prstGeom prst="roundRect">
            <a:avLst/>
          </a:prstGeom>
          <a:solidFill>
            <a:srgbClr val="1A1A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22C55E"/>
                </a:solidFill>
              </a:defRPr>
            </a:pPr>
            <a:r>
              <a:t>agent</a:t>
            </a:r>
          </a:p>
        </p:txBody>
      </p:sp>
      <p:sp>
        <p:nvSpPr>
          <p:cNvPr id="14" name="TextBox 13"/>
          <p:cNvSpPr txBox="1"/>
          <p:nvPr/>
        </p:nvSpPr>
        <p:spPr>
          <a:xfrm>
            <a:off x="2743200" y="3749039"/>
            <a:ext cx="2286000" cy="548640"/>
          </a:xfrm>
          <a:prstGeom prst="rect">
            <a:avLst/>
          </a:prstGeom>
          <a:noFill/>
        </p:spPr>
        <p:txBody>
          <a:bodyPr wrap="square">
            <a:spAutoFit/>
          </a:bodyPr>
          <a:lstStyle/>
          <a:p>
            <a:pPr algn="l">
              <a:defRPr sz="1600" b="1">
                <a:solidFill>
                  <a:srgbClr val="22C55E"/>
                </a:solidFill>
              </a:defRPr>
            </a:pPr>
            <a:r>
              <a:t>DEDUCT_STOCK</a:t>
            </a:r>
          </a:p>
        </p:txBody>
      </p:sp>
      <p:sp>
        <p:nvSpPr>
          <p:cNvPr id="15" name="TextBox 14"/>
          <p:cNvSpPr txBox="1"/>
          <p:nvPr/>
        </p:nvSpPr>
        <p:spPr>
          <a:xfrm>
            <a:off x="5029200" y="3749039"/>
            <a:ext cx="6400800" cy="548640"/>
          </a:xfrm>
          <a:prstGeom prst="rect">
            <a:avLst/>
          </a:prstGeom>
          <a:noFill/>
        </p:spPr>
        <p:txBody>
          <a:bodyPr wrap="square">
            <a:spAutoFit/>
          </a:bodyPr>
          <a:lstStyle/>
          <a:p>
            <a:pPr algn="l">
              <a:defRPr sz="1600" b="0">
                <a:solidFill>
                  <a:srgbClr val="D4D4D4"/>
                </a:solidFill>
              </a:defRPr>
            </a:pPr>
            <a:r>
              <a:t>Stock deducted: 5 → 4</a:t>
            </a:r>
          </a:p>
        </p:txBody>
      </p:sp>
      <p:sp>
        <p:nvSpPr>
          <p:cNvPr id="16" name="Rounded Rectangle 15"/>
          <p:cNvSpPr/>
          <p:nvPr/>
        </p:nvSpPr>
        <p:spPr>
          <a:xfrm>
            <a:off x="731520" y="4937760"/>
            <a:ext cx="548640" cy="5486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0A0A0A"/>
                </a:solidFill>
              </a:defRPr>
            </a:pPr>
            <a:r>
              <a:t>4</a:t>
            </a:r>
          </a:p>
        </p:txBody>
      </p:sp>
      <p:sp>
        <p:nvSpPr>
          <p:cNvPr id="17" name="Rounded Rectangle 16"/>
          <p:cNvSpPr/>
          <p:nvPr/>
        </p:nvSpPr>
        <p:spPr>
          <a:xfrm>
            <a:off x="1463040" y="4937760"/>
            <a:ext cx="1097280" cy="548640"/>
          </a:xfrm>
          <a:prstGeom prst="roundRect">
            <a:avLst/>
          </a:prstGeom>
          <a:solidFill>
            <a:srgbClr val="1A1A1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14B8A6"/>
                </a:solidFill>
              </a:defRPr>
            </a:pPr>
            <a:r>
              <a:t>agent</a:t>
            </a:r>
          </a:p>
        </p:txBody>
      </p:sp>
      <p:sp>
        <p:nvSpPr>
          <p:cNvPr id="18" name="TextBox 17"/>
          <p:cNvSpPr txBox="1"/>
          <p:nvPr/>
        </p:nvSpPr>
        <p:spPr>
          <a:xfrm>
            <a:off x="2743200" y="4937760"/>
            <a:ext cx="2286000" cy="548640"/>
          </a:xfrm>
          <a:prstGeom prst="rect">
            <a:avLst/>
          </a:prstGeom>
          <a:noFill/>
        </p:spPr>
        <p:txBody>
          <a:bodyPr wrap="square">
            <a:spAutoFit/>
          </a:bodyPr>
          <a:lstStyle/>
          <a:p>
            <a:pPr algn="l">
              <a:defRPr sz="1600" b="1">
                <a:solidFill>
                  <a:srgbClr val="14B8A6"/>
                </a:solidFill>
              </a:defRPr>
            </a:pPr>
            <a:r>
              <a:t>NOTIFY_CUSTOMER</a:t>
            </a:r>
          </a:p>
        </p:txBody>
      </p:sp>
      <p:sp>
        <p:nvSpPr>
          <p:cNvPr id="19" name="TextBox 18"/>
          <p:cNvSpPr txBox="1"/>
          <p:nvPr/>
        </p:nvSpPr>
        <p:spPr>
          <a:xfrm>
            <a:off x="5029200" y="4937760"/>
            <a:ext cx="6400800" cy="548640"/>
          </a:xfrm>
          <a:prstGeom prst="rect">
            <a:avLst/>
          </a:prstGeom>
          <a:noFill/>
        </p:spPr>
        <p:txBody>
          <a:bodyPr wrap="square">
            <a:spAutoFit/>
          </a:bodyPr>
          <a:lstStyle/>
          <a:p>
            <a:pPr algn="l">
              <a:defRPr sz="1600" b="0">
                <a:solidFill>
                  <a:srgbClr val="D4D4D4"/>
                </a:solidFill>
              </a:defRPr>
            </a:pPr>
            <a:r>
              <a:t>Customer notified via WhatsApp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274320"/>
            <a:ext cx="10698480" cy="731520"/>
          </a:xfrm>
          <a:prstGeom prst="rect">
            <a:avLst/>
          </a:prstGeom>
          <a:noFill/>
        </p:spPr>
        <p:txBody>
          <a:bodyPr wrap="square">
            <a:spAutoFit/>
          </a:bodyPr>
          <a:lstStyle/>
          <a:p>
            <a:pPr algn="l">
              <a:defRPr sz="4000" b="1">
                <a:solidFill>
                  <a:srgbClr val="F5F5F5"/>
                </a:solidFill>
              </a:defRPr>
            </a:pPr>
            <a:r>
              <a:t>Attack the Boundary</a:t>
            </a:r>
          </a:p>
        </p:txBody>
      </p:sp>
      <p:sp>
        <p:nvSpPr>
          <p:cNvPr id="3" name="TextBox 2"/>
          <p:cNvSpPr txBox="1"/>
          <p:nvPr/>
        </p:nvSpPr>
        <p:spPr>
          <a:xfrm>
            <a:off x="731520" y="1005840"/>
            <a:ext cx="10698480" cy="457200"/>
          </a:xfrm>
          <a:prstGeom prst="rect">
            <a:avLst/>
          </a:prstGeom>
          <a:noFill/>
        </p:spPr>
        <p:txBody>
          <a:bodyPr wrap="square">
            <a:spAutoFit/>
          </a:bodyPr>
          <a:lstStyle/>
          <a:p>
            <a:pPr algn="l">
              <a:defRPr sz="2000" b="0">
                <a:solidFill>
                  <a:srgbClr val="A3A3A3"/>
                </a:solidFill>
              </a:defRPr>
            </a:pPr>
            <a:r>
              <a:t>Try to approve order</a:t>
            </a:r>
          </a:p>
        </p:txBody>
      </p:sp>
      <p:sp>
        <p:nvSpPr>
          <p:cNvPr id="4" name="Rounded Rectangle 3"/>
          <p:cNvSpPr/>
          <p:nvPr/>
        </p:nvSpPr>
        <p:spPr>
          <a:xfrm>
            <a:off x="731520" y="1645920"/>
            <a:ext cx="5029200" cy="2286000"/>
          </a:xfrm>
          <a:prstGeom prst="roundRect">
            <a:avLst/>
          </a:prstGeom>
          <a:solidFill>
            <a:srgbClr val="14141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572000" cy="457200"/>
          </a:xfrm>
          <a:prstGeom prst="rect">
            <a:avLst/>
          </a:prstGeom>
          <a:noFill/>
        </p:spPr>
        <p:txBody>
          <a:bodyPr wrap="square">
            <a:spAutoFit/>
          </a:bodyPr>
          <a:lstStyle/>
          <a:p>
            <a:pPr algn="l">
              <a:defRPr sz="2000" b="1">
                <a:solidFill>
                  <a:srgbClr val="22C55E"/>
                </a:solidFill>
              </a:defRPr>
            </a:pPr>
            <a:r>
              <a:t>Available Tools</a:t>
            </a:r>
          </a:p>
        </p:txBody>
      </p:sp>
      <p:sp>
        <p:nvSpPr>
          <p:cNvPr id="6" name="TextBox 5"/>
          <p:cNvSpPr txBox="1"/>
          <p:nvPr/>
        </p:nvSpPr>
        <p:spPr>
          <a:xfrm>
            <a:off x="914400" y="2377440"/>
            <a:ext cx="4572000" cy="1371600"/>
          </a:xfrm>
          <a:prstGeom prst="rect">
            <a:avLst/>
          </a:prstGeom>
          <a:noFill/>
        </p:spPr>
        <p:txBody>
          <a:bodyPr wrap="square">
            <a:spAutoFit/>
          </a:bodyPr>
          <a:lstStyle/>
          <a:p>
            <a:pPr algn="l">
              <a:defRPr sz="1600" b="0">
                <a:solidFill>
                  <a:srgbClr val="22C55E"/>
                </a:solidFill>
              </a:defRPr>
            </a:pPr>
            <a:r>
              <a:t>✓ search_catalog</a:t>
            </a:r>
            <a:br/>
            <a:r>
              <a:t>✓ check_inventory</a:t>
            </a:r>
            <a:br/>
            <a:r>
              <a:t>✓ calculate_order_total</a:t>
            </a:r>
            <a:br/>
            <a:r>
              <a:t>✓ create_order_draft</a:t>
            </a:r>
          </a:p>
        </p:txBody>
      </p:sp>
      <p:sp>
        <p:nvSpPr>
          <p:cNvPr id="7" name="Rounded Rectangle 6"/>
          <p:cNvSpPr/>
          <p:nvPr/>
        </p:nvSpPr>
        <p:spPr>
          <a:xfrm>
            <a:off x="6400800" y="1645920"/>
            <a:ext cx="5029200" cy="2286000"/>
          </a:xfrm>
          <a:prstGeom prst="roundRect">
            <a:avLst/>
          </a:prstGeom>
          <a:solidFill>
            <a:srgbClr val="14141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57200"/>
          </a:xfrm>
          <a:prstGeom prst="rect">
            <a:avLst/>
          </a:prstGeom>
          <a:noFill/>
        </p:spPr>
        <p:txBody>
          <a:bodyPr wrap="square">
            <a:spAutoFit/>
          </a:bodyPr>
          <a:lstStyle/>
          <a:p>
            <a:pPr algn="l">
              <a:defRPr sz="2000" b="1">
                <a:solidFill>
                  <a:srgbClr val="EF4444"/>
                </a:solidFill>
              </a:defRPr>
            </a:pPr>
            <a:r>
              <a:t>Not Available Tools</a:t>
            </a:r>
          </a:p>
        </p:txBody>
      </p:sp>
      <p:sp>
        <p:nvSpPr>
          <p:cNvPr id="9" name="TextBox 8"/>
          <p:cNvSpPr txBox="1"/>
          <p:nvPr/>
        </p:nvSpPr>
        <p:spPr>
          <a:xfrm>
            <a:off x="6583680" y="2377440"/>
            <a:ext cx="4572000" cy="1371600"/>
          </a:xfrm>
          <a:prstGeom prst="rect">
            <a:avLst/>
          </a:prstGeom>
          <a:noFill/>
        </p:spPr>
        <p:txBody>
          <a:bodyPr wrap="square">
            <a:spAutoFit/>
          </a:bodyPr>
          <a:lstStyle/>
          <a:p>
            <a:pPr algn="l">
              <a:defRPr sz="1600" b="0">
                <a:solidFill>
                  <a:srgbClr val="EF4444"/>
                </a:solidFill>
              </a:defRPr>
            </a:pPr>
            <a:r>
              <a:t>✗ approve_order</a:t>
            </a:r>
            <a:br/>
            <a:r>
              <a:t>✗ reject_order</a:t>
            </a:r>
            <a:br/>
            <a:r>
              <a:t>✗ deduct_stock</a:t>
            </a:r>
            <a:br/>
            <a:r>
              <a:t>✗ send_customer_message</a:t>
            </a:r>
          </a:p>
        </p:txBody>
      </p:sp>
      <p:sp>
        <p:nvSpPr>
          <p:cNvPr id="10" name="Rounded Rectangle 9"/>
          <p:cNvSpPr/>
          <p:nvPr/>
        </p:nvSpPr>
        <p:spPr>
          <a:xfrm>
            <a:off x="731520" y="4389120"/>
            <a:ext cx="10698480" cy="1371600"/>
          </a:xfrm>
          <a:prstGeom prst="roundRect">
            <a:avLst/>
          </a:prstGeom>
          <a:solidFill>
            <a:srgbClr val="1A1A1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572000"/>
            <a:ext cx="10058400" cy="914400"/>
          </a:xfrm>
          <a:prstGeom prst="rect">
            <a:avLst/>
          </a:prstGeom>
          <a:noFill/>
        </p:spPr>
        <p:txBody>
          <a:bodyPr wrap="square">
            <a:spAutoFit/>
          </a:bodyPr>
          <a:lstStyle/>
          <a:p>
            <a:pPr algn="ctr">
              <a:defRPr sz="2400" b="1">
                <a:solidFill>
                  <a:srgbClr val="F59E0B"/>
                </a:solidFill>
              </a:defRPr>
            </a:pPr>
            <a:r>
              <a:t>"Bukan karena prompt-nya melarang agent.</a:t>
            </a:r>
            <a:br/>
            <a:r>
              <a:t>Tool-nya memang not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1828800"/>
            <a:ext cx="10698480" cy="1371600"/>
          </a:xfrm>
          <a:prstGeom prst="rect">
            <a:avLst/>
          </a:prstGeom>
          <a:noFill/>
        </p:spPr>
        <p:txBody>
          <a:bodyPr wrap="square">
            <a:spAutoFit/>
          </a:bodyPr>
          <a:lstStyle/>
          <a:p>
            <a:pPr algn="ctr">
              <a:defRPr sz="7200" b="1">
                <a:solidFill>
                  <a:srgbClr val="F5F5F5"/>
                </a:solidFill>
              </a:defRPr>
            </a:pPr>
            <a:r>
              <a:t>TUNTASUMKM</a:t>
            </a:r>
          </a:p>
        </p:txBody>
      </p:sp>
      <p:sp>
        <p:nvSpPr>
          <p:cNvPr id="3" name="TextBox 2"/>
          <p:cNvSpPr txBox="1"/>
          <p:nvPr/>
        </p:nvSpPr>
        <p:spPr>
          <a:xfrm>
            <a:off x="731520" y="3474720"/>
            <a:ext cx="10698480" cy="1828800"/>
          </a:xfrm>
          <a:prstGeom prst="rect">
            <a:avLst/>
          </a:prstGeom>
          <a:noFill/>
        </p:spPr>
        <p:txBody>
          <a:bodyPr wrap="square">
            <a:spAutoFit/>
          </a:bodyPr>
          <a:lstStyle/>
          <a:p>
            <a:pPr algn="ctr">
              <a:defRPr sz="2800" b="0">
                <a:solidFill>
                  <a:srgbClr val="A3A3A3"/>
                </a:solidFill>
              </a:defRPr>
            </a:pPr>
            <a:r>
              <a:t>Build Agent, Deliver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